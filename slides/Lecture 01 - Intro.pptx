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y="5143500" cx="9144000"/>
  <p:notesSz cx="6858000" cy="9144000"/>
  <p:embeddedFontLst>
    <p:embeddedFont>
      <p:font typeface="Roboto Medium"/>
      <p:regular r:id="rId53"/>
      <p:bold r:id="rId54"/>
      <p:italic r:id="rId55"/>
      <p:boldItalic r:id="rId56"/>
    </p:embeddedFont>
    <p:embeddedFont>
      <p:font typeface="Roboto"/>
      <p:regular r:id="rId57"/>
      <p:bold r:id="rId58"/>
      <p:italic r:id="rId59"/>
      <p:boldItalic r:id="rId60"/>
    </p:embeddedFont>
    <p:embeddedFont>
      <p:font typeface="Roboto Light"/>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Light-bold.fntdata"/><Relationship Id="rId61" Type="http://schemas.openxmlformats.org/officeDocument/2006/relationships/font" Target="fonts/RobotoLight-regular.fntdata"/><Relationship Id="rId20" Type="http://schemas.openxmlformats.org/officeDocument/2006/relationships/slide" Target="slides/slide16.xml"/><Relationship Id="rId64" Type="http://schemas.openxmlformats.org/officeDocument/2006/relationships/font" Target="fonts/RobotoLight-boldItalic.fntdata"/><Relationship Id="rId63" Type="http://schemas.openxmlformats.org/officeDocument/2006/relationships/font" Target="fonts/RobotoLight-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Roboto-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RobotoMedium-regular.fntdata"/><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RobotoMedium-italic.fntdata"/><Relationship Id="rId10" Type="http://schemas.openxmlformats.org/officeDocument/2006/relationships/slide" Target="slides/slide6.xml"/><Relationship Id="rId54" Type="http://schemas.openxmlformats.org/officeDocument/2006/relationships/font" Target="fonts/RobotoMedium-bold.fntdata"/><Relationship Id="rId13" Type="http://schemas.openxmlformats.org/officeDocument/2006/relationships/slide" Target="slides/slide9.xml"/><Relationship Id="rId57" Type="http://schemas.openxmlformats.org/officeDocument/2006/relationships/font" Target="fonts/Roboto-regular.fntdata"/><Relationship Id="rId12" Type="http://schemas.openxmlformats.org/officeDocument/2006/relationships/slide" Target="slides/slide8.xml"/><Relationship Id="rId56" Type="http://schemas.openxmlformats.org/officeDocument/2006/relationships/font" Target="fonts/RobotoMedium-boldItalic.fntdata"/><Relationship Id="rId15" Type="http://schemas.openxmlformats.org/officeDocument/2006/relationships/slide" Target="slides/slide11.xml"/><Relationship Id="rId59" Type="http://schemas.openxmlformats.org/officeDocument/2006/relationships/font" Target="fonts/Roboto-italic.fntdata"/><Relationship Id="rId14" Type="http://schemas.openxmlformats.org/officeDocument/2006/relationships/slide" Target="slides/slide10.xml"/><Relationship Id="rId58" Type="http://schemas.openxmlformats.org/officeDocument/2006/relationships/font" Target="fonts/Roboto-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9143fda57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9143fda57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143fda57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143fda57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ae7882e7e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ae7882e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a2a300eb3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a2a300e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5c89c302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5c89c302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ae7882e7e_0_1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ae7882e7e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ae7882e7e_0_1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ae7882e7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ae7882e7e_0_1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ae7882e7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ae7882e7e_0_1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ae7882e7e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ae7882e7e_0_2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ae7882e7e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5c89c302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5c89c302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ae7882e7e_0_2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ae7882e7e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ae7882e7e_0_2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ae7882e7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5c89c302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5c89c3029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ae7882e7e_0_2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ae7882e7e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ae7882e7e_0_3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ae7882e7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5c89c3029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5c89c3029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ae7882e7e_0_3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ae7882e7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ae7882e7e_0_4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ae7882e7e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ae7882e7e_0_4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ae7882e7e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ae7882e7e_0_4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ae7882e7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ae7882e7e_0_4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fae7882e7e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ae7882e7e_0_4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ae7882e7e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ae7882e7e_0_46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fae7882e7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5c89c3029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5c89c3029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ae7882e7e_0_4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ae7882e7e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ae7882e7e_0_4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ae7882e7e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5c89c3029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f5c89c3029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fae7882e7e_0_4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fae7882e7e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ae7882e7e_0_5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fae7882e7e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ae7882e7e_0_5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ae7882e7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5c89c3029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f5c89c3029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ae7882e7e_0_5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fae7882e7e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ae7882e7e_0_5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ae7882e7e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ae7882e7e_0_5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fae7882e7e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ae7882e7e_0_5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ae7882e7e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ae7882e7e_0_5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fae7882e7e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ae7882e7e_0_5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ae7882e7e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5c89c3029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f5c89c3029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ae7882e7e_0_5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ae7882e7e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ae7882e7e_0_6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fae7882e7e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ae7882e7e_0_62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fae7882e7e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ae7882e7e_0_6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fae7882e7e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ae7882e7e_0_64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ae7882e7e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ae7882e7e_0_6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ae7882e7e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ae7882e7e_0_6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fae7882e7e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ae7882e7e_0_6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fae7882e7e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fae7882e7e_0_6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fae7882e7e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7_0)">
  <p:cSld name="Title and body (g3f06253986f_7_0)">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14_0)">
  <p:cSld name="Title and body (g3f06253986f_14_0)">
    <p:spTree>
      <p:nvGrpSpPr>
        <p:cNvPr id="144" name="Shape 144"/>
        <p:cNvGrpSpPr/>
        <p:nvPr/>
      </p:nvGrpSpPr>
      <p:grpSpPr>
        <a:xfrm>
          <a:off x="0" y="0"/>
          <a:ext cx="0" cy="0"/>
          <a:chOff x="0" y="0"/>
          <a:chExt cx="0" cy="0"/>
        </a:xfrm>
      </p:grpSpPr>
      <p:sp>
        <p:nvSpPr>
          <p:cNvPr id="145" name="Google Shape;145;p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2.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indent="-330200" lvl="1" marL="914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indent="-330200" lvl="2" marL="1371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indent="-330200" lvl="3" marL="1828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indent="-330200" lvl="4" marL="22860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indent="-330200" lvl="5" marL="2743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indent="-330200" lvl="6" marL="3200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indent="-330200" lvl="7" marL="3657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indent="-330200" lvl="8" marL="4114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311700" y="18113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200">
                <a:solidFill>
                  <a:schemeClr val="accent3"/>
                </a:solidFill>
              </a:rPr>
              <a:t>Evaluation</a:t>
            </a:r>
            <a:endParaRPr sz="4200"/>
          </a:p>
        </p:txBody>
      </p:sp>
      <p:sp>
        <p:nvSpPr>
          <p:cNvPr id="153" name="Google Shape;153;p26"/>
          <p:cNvSpPr txBox="1"/>
          <p:nvPr/>
        </p:nvSpPr>
        <p:spPr>
          <a:xfrm>
            <a:off x="345775" y="28927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01 | July, 2026</a:t>
            </a:r>
            <a:endParaRPr sz="1200">
              <a:solidFill>
                <a:srgbClr val="BF9000"/>
              </a:solidFill>
              <a:latin typeface="Roboto Medium"/>
              <a:ea typeface="Roboto Medium"/>
              <a:cs typeface="Roboto Medium"/>
              <a:sym typeface="Roboto Medium"/>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311700" y="3769550"/>
            <a:ext cx="8520600" cy="1167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Instructor</a:t>
            </a:r>
            <a:r>
              <a:rPr lang="en" sz="1600">
                <a:latin typeface="Roboto Light"/>
                <a:ea typeface="Roboto Light"/>
                <a:cs typeface="Roboto Light"/>
                <a:sym typeface="Roboto Light"/>
              </a:rPr>
              <a:t>: Sithvothy Kiv </a:t>
            </a:r>
            <a:endParaRPr sz="1600">
              <a:latin typeface="Roboto Light"/>
              <a:ea typeface="Roboto Light"/>
              <a:cs typeface="Roboto Light"/>
              <a:sym typeface="Roboto Light"/>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Intro</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Evaluation</a:t>
            </a:r>
            <a:endParaRPr>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2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68" name="Google Shape;168;p2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Intro</a:t>
            </a:r>
            <a:endParaRPr b="0" sz="2400">
              <a:solidFill>
                <a:srgbClr val="0B5394"/>
              </a:solidFill>
              <a:latin typeface="Roboto Medium"/>
              <a:ea typeface="Roboto Medium"/>
              <a:cs typeface="Roboto Medium"/>
              <a:sym typeface="Roboto Medium"/>
            </a:endParaRPr>
          </a:p>
        </p:txBody>
      </p:sp>
      <p:grpSp>
        <p:nvGrpSpPr>
          <p:cNvPr id="169" name="Google Shape;169;p28"/>
          <p:cNvGrpSpPr/>
          <p:nvPr/>
        </p:nvGrpSpPr>
        <p:grpSpPr>
          <a:xfrm>
            <a:off x="428625" y="952500"/>
            <a:ext cx="8286900" cy="2523000"/>
            <a:chOff x="0" y="0"/>
            <a:chExt cx="8286900" cy="2523000"/>
          </a:xfrm>
        </p:grpSpPr>
        <p:sp>
          <p:nvSpPr>
            <p:cNvPr id="170" name="Google Shape;170;p28"/>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8"/>
            <p:cNvSpPr txBox="1"/>
            <p:nvPr/>
          </p:nvSpPr>
          <p:spPr>
            <a:xfrm>
              <a:off x="0" y="0"/>
              <a:ext cx="8286900" cy="252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Roboto"/>
                  <a:ea typeface="Roboto"/>
                  <a:cs typeface="Roboto"/>
                  <a:sym typeface="Roboto"/>
                </a:rPr>
                <a:t>In the previous modules, we built search engines and RAG pipelines. We tried different approaches: keyword search with </a:t>
              </a:r>
              <a:r>
                <a:rPr lang="en" sz="1600">
                  <a:solidFill>
                    <a:schemeClr val="accent3"/>
                  </a:solidFill>
                  <a:latin typeface="Roboto"/>
                  <a:ea typeface="Roboto"/>
                  <a:cs typeface="Roboto"/>
                  <a:sym typeface="Roboto"/>
                </a:rPr>
                <a:t>minsearch</a:t>
              </a:r>
              <a:r>
                <a:rPr lang="en" sz="1600">
                  <a:solidFill>
                    <a:schemeClr val="dk1"/>
                  </a:solidFill>
                  <a:latin typeface="Roboto"/>
                  <a:ea typeface="Roboto"/>
                  <a:cs typeface="Roboto"/>
                  <a:sym typeface="Roboto"/>
                </a:rPr>
                <a:t>, </a:t>
              </a:r>
              <a:r>
                <a:rPr lang="en" sz="1600">
                  <a:solidFill>
                    <a:schemeClr val="accent3"/>
                  </a:solidFill>
                  <a:latin typeface="Roboto"/>
                  <a:ea typeface="Roboto"/>
                  <a:cs typeface="Roboto"/>
                  <a:sym typeface="Roboto"/>
                </a:rPr>
                <a:t>vector search</a:t>
              </a:r>
              <a:r>
                <a:rPr lang="en" sz="1600">
                  <a:solidFill>
                    <a:schemeClr val="dk1"/>
                  </a:solidFill>
                  <a:latin typeface="Roboto"/>
                  <a:ea typeface="Roboto"/>
                  <a:cs typeface="Roboto"/>
                  <a:sym typeface="Roboto"/>
                </a:rPr>
                <a:t>, </a:t>
              </a:r>
              <a:r>
                <a:rPr lang="en" sz="1600">
                  <a:solidFill>
                    <a:schemeClr val="accent3"/>
                  </a:solidFill>
                  <a:latin typeface="Roboto"/>
                  <a:ea typeface="Roboto"/>
                  <a:cs typeface="Roboto"/>
                  <a:sym typeface="Roboto"/>
                </a:rPr>
                <a:t>agents with function calling</a:t>
              </a:r>
              <a:r>
                <a:rPr lang="en" sz="1600">
                  <a:solidFill>
                    <a:schemeClr val="dk1"/>
                  </a:solidFill>
                  <a:latin typeface="Roboto"/>
                  <a:ea typeface="Roboto"/>
                  <a:cs typeface="Roboto"/>
                  <a:sym typeface="Roboto"/>
                </a:rPr>
                <a:t>. But we never answered the obvious question of which one is actually better.</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600">
                  <a:solidFill>
                    <a:schemeClr val="dk1"/>
                  </a:solidFill>
                  <a:latin typeface="Roboto"/>
                  <a:ea typeface="Roboto"/>
                  <a:cs typeface="Roboto"/>
                  <a:sym typeface="Roboto"/>
                </a:rPr>
                <a:t>We could try a few queries by hand and see what looks good. That's fine for a quick sanity check, but it doesn't scale, and it doesn't give us a number to compare. We need a systematic way to tell whether one approach beats another.</a:t>
              </a:r>
              <a:endParaRPr sz="1600">
                <a:solidFill>
                  <a:schemeClr val="dk1"/>
                </a:solidFill>
                <a:latin typeface="Roboto"/>
                <a:ea typeface="Roboto"/>
                <a:cs typeface="Roboto"/>
                <a:sym typeface="Roboto"/>
              </a:endParaRPr>
            </a:p>
            <a:p>
              <a:pPr indent="0" lvl="0" marL="0" rtl="0" algn="l">
                <a:spcBef>
                  <a:spcPts val="1200"/>
                </a:spcBef>
                <a:spcAft>
                  <a:spcPts val="0"/>
                </a:spcAft>
                <a:buNone/>
              </a:pPr>
              <a:r>
                <a:t/>
              </a:r>
              <a:endParaRPr sz="1600">
                <a:solidFill>
                  <a:schemeClr val="dk1"/>
                </a:solidFill>
                <a:latin typeface="Roboto"/>
                <a:ea typeface="Roboto"/>
                <a:cs typeface="Roboto"/>
                <a:sym typeface="Roboto"/>
              </a:endParaRPr>
            </a:p>
          </p:txBody>
        </p:sp>
      </p:grpSp>
      <p:sp>
        <p:nvSpPr>
          <p:cNvPr id="172" name="Google Shape;172;p2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cxnSp>
        <p:nvCxnSpPr>
          <p:cNvPr id="177" name="Google Shape;177;p29"/>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78" name="Google Shape;178;p29"/>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Intro</a:t>
            </a:r>
            <a:endParaRPr b="0" sz="2400">
              <a:solidFill>
                <a:srgbClr val="0B5394"/>
              </a:solidFill>
              <a:latin typeface="Roboto Medium"/>
              <a:ea typeface="Roboto Medium"/>
              <a:cs typeface="Roboto Medium"/>
              <a:sym typeface="Roboto Medium"/>
            </a:endParaRPr>
          </a:p>
        </p:txBody>
      </p:sp>
      <p:grpSp>
        <p:nvGrpSpPr>
          <p:cNvPr id="179" name="Google Shape;179;p29"/>
          <p:cNvGrpSpPr/>
          <p:nvPr/>
        </p:nvGrpSpPr>
        <p:grpSpPr>
          <a:xfrm>
            <a:off x="428625" y="952500"/>
            <a:ext cx="8286900" cy="571500"/>
            <a:chOff x="0" y="0"/>
            <a:chExt cx="8286900" cy="571500"/>
          </a:xfrm>
        </p:grpSpPr>
        <p:sp>
          <p:nvSpPr>
            <p:cNvPr id="180" name="Google Shape;180;p29"/>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29"/>
            <p:cNvSpPr txBox="1"/>
            <p:nvPr/>
          </p:nvSpPr>
          <p:spPr>
            <a:xfrm>
              <a:off x="0" y="0"/>
              <a:ext cx="8286900" cy="57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Roboto"/>
                  <a:ea typeface="Roboto"/>
                  <a:cs typeface="Roboto"/>
                  <a:sym typeface="Roboto"/>
                </a:rPr>
                <a:t>That's what evaluation is for. And it's worth saying up front: of everything in this course, evaluation is the part that matters most. It's also the most tedious. But it's the only way to be sure your system works. And it's how you keep it working as you change prompts and swap models.</a:t>
              </a:r>
              <a:endParaRPr sz="1600">
                <a:solidFill>
                  <a:schemeClr val="dk1"/>
                </a:solidFill>
                <a:latin typeface="Roboto"/>
                <a:ea typeface="Roboto"/>
                <a:cs typeface="Roboto"/>
                <a:sym typeface="Roboto"/>
              </a:endParaRPr>
            </a:p>
            <a:p>
              <a:pPr indent="0" lvl="0" marL="0" rtl="0" algn="l">
                <a:spcBef>
                  <a:spcPts val="1200"/>
                </a:spcBef>
                <a:spcAft>
                  <a:spcPts val="0"/>
                </a:spcAft>
                <a:buNone/>
              </a:pPr>
              <a:r>
                <a:t/>
              </a:r>
              <a:endParaRPr sz="1600">
                <a:solidFill>
                  <a:schemeClr val="dk1"/>
                </a:solidFill>
                <a:latin typeface="Roboto"/>
                <a:ea typeface="Roboto"/>
                <a:cs typeface="Roboto"/>
                <a:sym typeface="Roboto"/>
              </a:endParaRPr>
            </a:p>
          </p:txBody>
        </p:sp>
      </p:grpSp>
      <p:sp>
        <p:nvSpPr>
          <p:cNvPr id="182" name="Google Shape;182;p2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The evaluation setup</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188" name="Google Shape;18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The e</a:t>
            </a:r>
            <a:r>
              <a:rPr lang="en">
                <a:solidFill>
                  <a:schemeClr val="accent3"/>
                </a:solidFill>
              </a:rPr>
              <a:t>valuation setup</a:t>
            </a:r>
            <a:endParaRPr>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cxnSp>
        <p:nvCxnSpPr>
          <p:cNvPr id="194" name="Google Shape;194;p31"/>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95" name="Google Shape;195;p31"/>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The evaluation setup</a:t>
            </a:r>
            <a:endParaRPr b="0" sz="2400">
              <a:solidFill>
                <a:srgbClr val="0B5394"/>
              </a:solidFill>
              <a:latin typeface="Roboto Medium"/>
              <a:ea typeface="Roboto Medium"/>
              <a:cs typeface="Roboto Medium"/>
              <a:sym typeface="Roboto Medium"/>
            </a:endParaRPr>
          </a:p>
        </p:txBody>
      </p:sp>
      <p:grpSp>
        <p:nvGrpSpPr>
          <p:cNvPr id="196" name="Google Shape;196;p31"/>
          <p:cNvGrpSpPr/>
          <p:nvPr/>
        </p:nvGrpSpPr>
        <p:grpSpPr>
          <a:xfrm>
            <a:off x="428625" y="952500"/>
            <a:ext cx="8286900" cy="2815200"/>
            <a:chOff x="0" y="0"/>
            <a:chExt cx="8286900" cy="2815200"/>
          </a:xfrm>
        </p:grpSpPr>
        <p:sp>
          <p:nvSpPr>
            <p:cNvPr id="197" name="Google Shape;197;p31"/>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31"/>
            <p:cNvSpPr txBox="1"/>
            <p:nvPr/>
          </p:nvSpPr>
          <p:spPr>
            <a:xfrm>
              <a:off x="0" y="0"/>
              <a:ext cx="8286900" cy="28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Roboto"/>
                  <a:ea typeface="Roboto"/>
                  <a:cs typeface="Roboto"/>
                  <a:sym typeface="Roboto"/>
                </a:rPr>
                <a:t>For search evaluation, we need a dataset of questions where we know which document is the correct answer. We'll use an LLM to generate these questions from our FAQ data.</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600">
                  <a:solidFill>
                    <a:schemeClr val="dk1"/>
                  </a:solidFill>
                  <a:latin typeface="Roboto"/>
                  <a:ea typeface="Roboto"/>
                  <a:cs typeface="Roboto"/>
                  <a:sym typeface="Roboto"/>
                </a:rPr>
                <a:t>The approach works like this:</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A = the original answer in the FAQ</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Q* = a question generated from that answer by an LLM</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We send Q* through our search and check if the original document appears in the results</a:t>
              </a:r>
              <a:endParaRPr sz="1600">
                <a:solidFill>
                  <a:schemeClr val="dk1"/>
                </a:solidFill>
                <a:latin typeface="Roboto"/>
                <a:ea typeface="Roboto"/>
                <a:cs typeface="Roboto"/>
                <a:sym typeface="Roboto"/>
              </a:endParaRPr>
            </a:p>
          </p:txBody>
        </p:sp>
      </p:grpSp>
      <p:sp>
        <p:nvSpPr>
          <p:cNvPr id="199" name="Google Shape;199;p3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cxnSp>
        <p:nvCxnSpPr>
          <p:cNvPr id="204" name="Google Shape;204;p32"/>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05" name="Google Shape;205;p32"/>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The evaluation setup</a:t>
            </a:r>
            <a:endParaRPr b="0" sz="2400">
              <a:solidFill>
                <a:srgbClr val="0B5394"/>
              </a:solidFill>
              <a:latin typeface="Roboto Medium"/>
              <a:ea typeface="Roboto Medium"/>
              <a:cs typeface="Roboto Medium"/>
              <a:sym typeface="Roboto Medium"/>
            </a:endParaRPr>
          </a:p>
        </p:txBody>
      </p:sp>
      <p:grpSp>
        <p:nvGrpSpPr>
          <p:cNvPr id="206" name="Google Shape;206;p32"/>
          <p:cNvGrpSpPr/>
          <p:nvPr/>
        </p:nvGrpSpPr>
        <p:grpSpPr>
          <a:xfrm>
            <a:off x="428625" y="952500"/>
            <a:ext cx="8286900" cy="2905800"/>
            <a:chOff x="0" y="0"/>
            <a:chExt cx="8286900" cy="2905800"/>
          </a:xfrm>
        </p:grpSpPr>
        <p:sp>
          <p:nvSpPr>
            <p:cNvPr id="207" name="Google Shape;207;p32"/>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32"/>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For RAG evaluation, we go one step further:</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A = the original answer in the FAQ</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Q* = a question generated from that answer by an LLM</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A' = the answer produced by our RAG system when given Q*</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We compare A' with A to see if the system produced the right answer</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rPr lang="en" sz="1600">
                  <a:solidFill>
                    <a:schemeClr val="dk1"/>
                  </a:solidFill>
                  <a:latin typeface="Roboto"/>
                  <a:ea typeface="Roboto"/>
                  <a:cs typeface="Roboto"/>
                  <a:sym typeface="Roboto"/>
                </a:rPr>
                <a:t>This is the A → Q* → A' pattern. We know the answer for each generated question because we created the question from that answer.</a:t>
              </a:r>
              <a:endParaRPr sz="1600">
                <a:solidFill>
                  <a:schemeClr val="dk1"/>
                </a:solidFill>
                <a:latin typeface="Roboto"/>
                <a:ea typeface="Roboto"/>
                <a:cs typeface="Roboto"/>
                <a:sym typeface="Roboto"/>
              </a:endParaRPr>
            </a:p>
          </p:txBody>
        </p:sp>
      </p:grpSp>
      <p:sp>
        <p:nvSpPr>
          <p:cNvPr id="209" name="Google Shape;209;p3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cxnSp>
        <p:nvCxnSpPr>
          <p:cNvPr id="214" name="Google Shape;214;p33"/>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15" name="Google Shape;215;p33"/>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The evaluation setup</a:t>
            </a:r>
            <a:endParaRPr b="0" sz="2400">
              <a:solidFill>
                <a:srgbClr val="0B5394"/>
              </a:solidFill>
              <a:latin typeface="Roboto Medium"/>
              <a:ea typeface="Roboto Medium"/>
              <a:cs typeface="Roboto Medium"/>
              <a:sym typeface="Roboto Medium"/>
            </a:endParaRPr>
          </a:p>
        </p:txBody>
      </p:sp>
      <p:grpSp>
        <p:nvGrpSpPr>
          <p:cNvPr id="216" name="Google Shape;216;p33"/>
          <p:cNvGrpSpPr/>
          <p:nvPr/>
        </p:nvGrpSpPr>
        <p:grpSpPr>
          <a:xfrm>
            <a:off x="428625" y="952500"/>
            <a:ext cx="8286900" cy="2905800"/>
            <a:chOff x="0" y="0"/>
            <a:chExt cx="8286900" cy="2905800"/>
          </a:xfrm>
        </p:grpSpPr>
        <p:sp>
          <p:nvSpPr>
            <p:cNvPr id="217" name="Google Shape;217;p33"/>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33"/>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With evaluation, we can:</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Compare different search methods (minsearch vs vector search vs hybrid)</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Tune parameters (boost values, number of results, prompt templates)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Compare different LLMs (gpt-5.4-mini vs others)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Track improvements over time</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0"/>
                </a:spcAft>
                <a:buNone/>
              </a:pPr>
              <a:r>
                <a:rPr lang="en" sz="1600">
                  <a:solidFill>
                    <a:schemeClr val="dk1"/>
                  </a:solidFill>
                  <a:latin typeface="Roboto"/>
                  <a:ea typeface="Roboto"/>
                  <a:cs typeface="Roboto"/>
                  <a:sym typeface="Roboto"/>
                </a:rPr>
                <a:t>There are two types of evaluation:</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Offline evaluation: run the system on a test dataset and compute metrics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Online evaluation: collect feedback from real users in production</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700"/>
                </a:spcAft>
                <a:buNone/>
              </a:pPr>
              <a:r>
                <a:rPr lang="en" sz="1600">
                  <a:solidFill>
                    <a:schemeClr val="dk1"/>
                  </a:solidFill>
                  <a:latin typeface="Roboto"/>
                  <a:ea typeface="Roboto"/>
                  <a:cs typeface="Roboto"/>
                  <a:sym typeface="Roboto"/>
                </a:rPr>
                <a:t>Offline evaluation is what we do before putting changes in front of users. It lets us compare search settings, prompts, or models on the same dataset. Online evaluation happens after deployment. It uses real traffic, feedback, logs, and dashboards to monitor quality.</a:t>
              </a:r>
              <a:endParaRPr sz="1600">
                <a:solidFill>
                  <a:schemeClr val="dk1"/>
                </a:solidFill>
                <a:latin typeface="Roboto"/>
                <a:ea typeface="Roboto"/>
                <a:cs typeface="Roboto"/>
                <a:sym typeface="Roboto"/>
              </a:endParaRPr>
            </a:p>
          </p:txBody>
        </p:sp>
      </p:grpSp>
      <p:sp>
        <p:nvSpPr>
          <p:cNvPr id="219" name="Google Shape;219;p3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34"/>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25" name="Google Shape;225;p34"/>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The evaluation setup</a:t>
            </a:r>
            <a:endParaRPr b="0" sz="2400">
              <a:solidFill>
                <a:srgbClr val="0B5394"/>
              </a:solidFill>
              <a:latin typeface="Roboto Medium"/>
              <a:ea typeface="Roboto Medium"/>
              <a:cs typeface="Roboto Medium"/>
              <a:sym typeface="Roboto Medium"/>
            </a:endParaRPr>
          </a:p>
        </p:txBody>
      </p:sp>
      <p:grpSp>
        <p:nvGrpSpPr>
          <p:cNvPr id="226" name="Google Shape;226;p34"/>
          <p:cNvGrpSpPr/>
          <p:nvPr/>
        </p:nvGrpSpPr>
        <p:grpSpPr>
          <a:xfrm>
            <a:off x="428625" y="952500"/>
            <a:ext cx="8286900" cy="2905800"/>
            <a:chOff x="0" y="0"/>
            <a:chExt cx="8286900" cy="2905800"/>
          </a:xfrm>
        </p:grpSpPr>
        <p:sp>
          <p:nvSpPr>
            <p:cNvPr id="227" name="Google Shape;227;p34"/>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34"/>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Roboto"/>
                  <a:ea typeface="Roboto"/>
                  <a:cs typeface="Roboto"/>
                  <a:sym typeface="Roboto"/>
                </a:rPr>
                <a:t>In this module, we focus on offline evaluation. We'll generate a test dataset, run our search and RAG systems on it, and measure how well they perform.</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Synthetic data is a good starting point when you don't have real user data. But generated questions can be too similar to the original FAQ text, which inflates the metrics. As soon as you can, start collecting real user queries and use them to validate your evaluation framework.</a:t>
              </a:r>
              <a:endParaRPr sz="1600">
                <a:solidFill>
                  <a:schemeClr val="dk1"/>
                </a:solidFill>
                <a:latin typeface="Roboto"/>
                <a:ea typeface="Roboto"/>
                <a:cs typeface="Roboto"/>
                <a:sym typeface="Roboto"/>
              </a:endParaRPr>
            </a:p>
          </p:txBody>
        </p:sp>
      </p:grpSp>
      <p:sp>
        <p:nvSpPr>
          <p:cNvPr id="229" name="Google Shape;229;p3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cxnSp>
        <p:nvCxnSpPr>
          <p:cNvPr id="234" name="Google Shape;234;p35"/>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35" name="Google Shape;235;p35"/>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The evaluation setup</a:t>
            </a:r>
            <a:endParaRPr b="0" sz="2400">
              <a:solidFill>
                <a:srgbClr val="0B5394"/>
              </a:solidFill>
              <a:latin typeface="Roboto Medium"/>
              <a:ea typeface="Roboto Medium"/>
              <a:cs typeface="Roboto Medium"/>
              <a:sym typeface="Roboto Medium"/>
            </a:endParaRPr>
          </a:p>
        </p:txBody>
      </p:sp>
      <p:grpSp>
        <p:nvGrpSpPr>
          <p:cNvPr id="236" name="Google Shape;236;p35"/>
          <p:cNvGrpSpPr/>
          <p:nvPr/>
        </p:nvGrpSpPr>
        <p:grpSpPr>
          <a:xfrm>
            <a:off x="428625" y="952500"/>
            <a:ext cx="8286900" cy="2905800"/>
            <a:chOff x="0" y="0"/>
            <a:chExt cx="8286900" cy="2905800"/>
          </a:xfrm>
        </p:grpSpPr>
        <p:sp>
          <p:nvSpPr>
            <p:cNvPr id="237" name="Google Shape;237;p35"/>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35"/>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We'll cover three levels of evaluation:</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AutoNum type="arabicPeriod"/>
              </a:pPr>
              <a:r>
                <a:rPr lang="en" sz="1600">
                  <a:solidFill>
                    <a:schemeClr val="dk1"/>
                  </a:solidFill>
                  <a:latin typeface="Roboto"/>
                  <a:ea typeface="Roboto"/>
                  <a:cs typeface="Roboto"/>
                  <a:sym typeface="Roboto"/>
                </a:rPr>
                <a:t>Search evaluation: does the search return the right documents?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rabicPeriod"/>
              </a:pPr>
              <a:r>
                <a:rPr lang="en" sz="1600">
                  <a:solidFill>
                    <a:schemeClr val="dk1"/>
                  </a:solidFill>
                  <a:latin typeface="Roboto"/>
                  <a:ea typeface="Roboto"/>
                  <a:cs typeface="Roboto"/>
                  <a:sym typeface="Roboto"/>
                </a:rPr>
                <a:t>RAG evaluation: does the LLM generate good answers?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rabicPeriod"/>
              </a:pPr>
              <a:r>
                <a:rPr lang="en" sz="1600">
                  <a:solidFill>
                    <a:schemeClr val="dk1"/>
                  </a:solidFill>
                  <a:latin typeface="Roboto"/>
                  <a:ea typeface="Roboto"/>
                  <a:cs typeface="Roboto"/>
                  <a:sym typeface="Roboto"/>
                </a:rPr>
                <a:t>Agent evaluation: does the agent use tools efficiently?</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0"/>
                </a:spcAft>
                <a:buNone/>
              </a:pPr>
              <a:r>
                <a:rPr lang="en" sz="1600">
                  <a:solidFill>
                    <a:schemeClr val="dk1"/>
                  </a:solidFill>
                  <a:latin typeface="Roboto"/>
                  <a:ea typeface="Roboto"/>
                  <a:cs typeface="Roboto"/>
                  <a:sym typeface="Roboto"/>
                </a:rPr>
                <a:t>Most of our time goes to search, and that's on purpose. Everything else depends on it: if retrieval brings back the wrong documents, no prompt or model can rescue the answer. So we test search on its own first, then evaluate the full pipeline on top of it.</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For search, we'll use two metrics: Hit Rate and MRR (Mean Reciprocal Rank). For RAG quality, we'll use LLM-as-a-judge. For agents, we'll look at the final answer and the tool-call trajectory.</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Let's start with generating the test data we need.</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sz="1600">
                <a:solidFill>
                  <a:schemeClr val="dk1"/>
                </a:solidFill>
                <a:latin typeface="Roboto"/>
                <a:ea typeface="Roboto"/>
                <a:cs typeface="Roboto"/>
                <a:sym typeface="Roboto"/>
              </a:endParaRPr>
            </a:p>
          </p:txBody>
        </p:sp>
      </p:grpSp>
      <p:sp>
        <p:nvSpPr>
          <p:cNvPr id="239" name="Google Shape;239;p3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Generating Ground Truth Data</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245" name="Google Shape;245;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6"/>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Data</a:t>
            </a:r>
            <a:endParaRPr>
              <a:solidFill>
                <a:schemeClr val="accent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cxnSp>
        <p:nvCxnSpPr>
          <p:cNvPr id="251" name="Google Shape;251;p37"/>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52" name="Google Shape;252;p37"/>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Generating Ground Truth Data</a:t>
            </a:r>
            <a:endParaRPr b="0" sz="2400">
              <a:solidFill>
                <a:srgbClr val="0B5394"/>
              </a:solidFill>
              <a:latin typeface="Roboto Medium"/>
              <a:ea typeface="Roboto Medium"/>
              <a:cs typeface="Roboto Medium"/>
              <a:sym typeface="Roboto Medium"/>
            </a:endParaRPr>
          </a:p>
        </p:txBody>
      </p:sp>
      <p:grpSp>
        <p:nvGrpSpPr>
          <p:cNvPr id="253" name="Google Shape;253;p37"/>
          <p:cNvGrpSpPr/>
          <p:nvPr/>
        </p:nvGrpSpPr>
        <p:grpSpPr>
          <a:xfrm>
            <a:off x="428625" y="952500"/>
            <a:ext cx="8286900" cy="2905800"/>
            <a:chOff x="0" y="0"/>
            <a:chExt cx="8286900" cy="2905800"/>
          </a:xfrm>
        </p:grpSpPr>
        <p:sp>
          <p:nvSpPr>
            <p:cNvPr id="254" name="Google Shape;254;p37"/>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37"/>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To evaluate search, we need a dataset of queries where we know which document is the correct answer. This is called ground truth (or gold standard) data.</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For each query in our ground truth dataset, we know which document in the knowledge base is relevant. When we run a search, we check whether the results include the correct document.</a:t>
              </a:r>
              <a:endParaRPr sz="1600">
                <a:solidFill>
                  <a:schemeClr val="dk1"/>
                </a:solidFill>
                <a:latin typeface="Roboto"/>
                <a:ea typeface="Roboto"/>
                <a:cs typeface="Roboto"/>
                <a:sym typeface="Roboto"/>
              </a:endParaRPr>
            </a:p>
          </p:txBody>
        </p:sp>
      </p:grpSp>
      <p:sp>
        <p:nvSpPr>
          <p:cNvPr id="256" name="Google Shape;256;p37"/>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cxnSp>
        <p:nvCxnSpPr>
          <p:cNvPr id="261" name="Google Shape;261;p3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62" name="Google Shape;262;p3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2400"/>
              <a:t>Generating Ground Truth Data</a:t>
            </a:r>
            <a:endParaRPr b="0" sz="2400">
              <a:solidFill>
                <a:srgbClr val="0B5394"/>
              </a:solidFill>
              <a:latin typeface="Roboto Medium"/>
              <a:ea typeface="Roboto Medium"/>
              <a:cs typeface="Roboto Medium"/>
              <a:sym typeface="Roboto Medium"/>
            </a:endParaRPr>
          </a:p>
        </p:txBody>
      </p:sp>
      <p:grpSp>
        <p:nvGrpSpPr>
          <p:cNvPr id="263" name="Google Shape;263;p38"/>
          <p:cNvGrpSpPr/>
          <p:nvPr/>
        </p:nvGrpSpPr>
        <p:grpSpPr>
          <a:xfrm>
            <a:off x="428625" y="952500"/>
            <a:ext cx="8286900" cy="2905800"/>
            <a:chOff x="0" y="0"/>
            <a:chExt cx="8286900" cy="2905800"/>
          </a:xfrm>
        </p:grpSpPr>
        <p:sp>
          <p:nvSpPr>
            <p:cNvPr id="264" name="Google Shape;264;p38"/>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38"/>
            <p:cNvSpPr txBox="1"/>
            <p:nvPr/>
          </p:nvSpPr>
          <p:spPr>
            <a:xfrm>
              <a:off x="0" y="0"/>
              <a:ext cx="8286900" cy="29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There are several ways to get ground truth data:</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Human annotators look at documents and write queries (best quality, expensive)</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Collect real user queries and label them (requires a running system)</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Generate synthetic data with an LLM (what we'll do)</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rPr lang="en" sz="1600">
                  <a:solidFill>
                    <a:schemeClr val="dk1"/>
                  </a:solidFill>
                  <a:latin typeface="Roboto"/>
                  <a:ea typeface="Roboto"/>
                  <a:cs typeface="Roboto"/>
                  <a:sym typeface="Roboto"/>
                </a:rPr>
                <a:t>We don't have a production system yet, so we'll use an LLM to generate questions. For each FAQ document, we ask the LLM to create 5 questions that this document would answer. Then we know that for each generated question, the source document is the correct answer.</a:t>
              </a:r>
              <a:endParaRPr sz="1600">
                <a:solidFill>
                  <a:schemeClr val="dk1"/>
                </a:solidFill>
                <a:latin typeface="Roboto"/>
                <a:ea typeface="Roboto"/>
                <a:cs typeface="Roboto"/>
                <a:sym typeface="Roboto"/>
              </a:endParaRPr>
            </a:p>
          </p:txBody>
        </p:sp>
      </p:grpSp>
      <p:sp>
        <p:nvSpPr>
          <p:cNvPr id="266" name="Google Shape;266;p3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Loading the documents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272" name="Google Shape;27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Loading the documents</a:t>
            </a:r>
            <a:endParaRPr>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40"/>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79" name="Google Shape;279;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Loading the documents</a:t>
            </a:r>
            <a:endParaRPr/>
          </a:p>
        </p:txBody>
      </p:sp>
      <p:sp>
        <p:nvSpPr>
          <p:cNvPr id="280" name="Google Shape;280;p40"/>
          <p:cNvSpPr txBox="1"/>
          <p:nvPr/>
        </p:nvSpPr>
        <p:spPr>
          <a:xfrm>
            <a:off x="428625" y="714375"/>
            <a:ext cx="8286900" cy="80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We'll use helper files from module 01 and this module.</a:t>
            </a:r>
            <a:endParaRPr sz="1600">
              <a:solidFill>
                <a:schemeClr val="dk1"/>
              </a:solidFill>
              <a:latin typeface="Roboto"/>
              <a:ea typeface="Roboto"/>
              <a:cs typeface="Roboto"/>
              <a:sym typeface="Roboto"/>
            </a:endParaRPr>
          </a:p>
        </p:txBody>
      </p:sp>
      <p:sp>
        <p:nvSpPr>
          <p:cNvPr id="281" name="Google Shape;281;p40"/>
          <p:cNvSpPr txBox="1"/>
          <p:nvPr/>
        </p:nvSpPr>
        <p:spPr>
          <a:xfrm>
            <a:off x="443975" y="1184850"/>
            <a:ext cx="8229000" cy="3249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accent2"/>
                </a:solidFill>
                <a:highlight>
                  <a:srgbClr val="FFFFFF"/>
                </a:highlight>
                <a:latin typeface="Consolas"/>
                <a:ea typeface="Consolas"/>
                <a:cs typeface="Consolas"/>
                <a:sym typeface="Consolas"/>
              </a:rPr>
              <a:t>from</a:t>
            </a:r>
            <a:r>
              <a:rPr lang="en" sz="1600">
                <a:highlight>
                  <a:srgbClr val="FFFFFF"/>
                </a:highlight>
                <a:latin typeface="Consolas"/>
                <a:ea typeface="Consolas"/>
                <a:cs typeface="Consolas"/>
                <a:sym typeface="Consolas"/>
              </a:rPr>
              <a:t> ingest </a:t>
            </a:r>
            <a:r>
              <a:rPr lang="en" sz="1600">
                <a:solidFill>
                  <a:schemeClr val="accent2"/>
                </a:solidFill>
                <a:highlight>
                  <a:srgbClr val="FFFFFF"/>
                </a:highlight>
                <a:latin typeface="Consolas"/>
                <a:ea typeface="Consolas"/>
                <a:cs typeface="Consolas"/>
                <a:sym typeface="Consolas"/>
              </a:rPr>
              <a:t>import</a:t>
            </a:r>
            <a:r>
              <a:rPr lang="en" sz="1600">
                <a:highlight>
                  <a:srgbClr val="FFFFFF"/>
                </a:highlight>
                <a:latin typeface="Consolas"/>
                <a:ea typeface="Consolas"/>
                <a:cs typeface="Consolas"/>
                <a:sym typeface="Consolas"/>
              </a:rPr>
              <a:t> load_faq_data</a:t>
            </a:r>
            <a:endParaRPr sz="16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highlight>
                  <a:srgbClr val="FFFFFF"/>
                </a:highlight>
                <a:latin typeface="Consolas"/>
                <a:ea typeface="Consolas"/>
                <a:cs typeface="Consolas"/>
                <a:sym typeface="Consolas"/>
              </a:rPr>
              <a:t>documents = </a:t>
            </a:r>
            <a:r>
              <a:rPr lang="en" sz="1600">
                <a:solidFill>
                  <a:schemeClr val="accent3"/>
                </a:solidFill>
                <a:highlight>
                  <a:srgbClr val="FFFFFF"/>
                </a:highlight>
                <a:latin typeface="Consolas"/>
                <a:ea typeface="Consolas"/>
                <a:cs typeface="Consolas"/>
                <a:sym typeface="Consolas"/>
              </a:rPr>
              <a:t>load_faq_data</a:t>
            </a:r>
            <a:r>
              <a:rPr lang="en" sz="1600">
                <a:highlight>
                  <a:srgbClr val="FFFFFF"/>
                </a:highlight>
                <a:latin typeface="Consolas"/>
                <a:ea typeface="Consolas"/>
                <a:cs typeface="Consolas"/>
                <a:sym typeface="Consolas"/>
              </a:rPr>
              <a:t>()</a:t>
            </a:r>
            <a:endParaRPr sz="16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documents_llm =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rgbClr val="D4D4D4"/>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for</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doc</a:t>
            </a:r>
            <a:r>
              <a:rPr lang="en" sz="1600">
                <a:solidFill>
                  <a:srgbClr val="D4D4D4"/>
                </a:solidFill>
                <a:latin typeface="Consolas"/>
                <a:ea typeface="Consolas"/>
                <a:cs typeface="Consolas"/>
                <a:sym typeface="Consolas"/>
              </a:rPr>
              <a:t> </a:t>
            </a:r>
            <a:r>
              <a:rPr lang="en" sz="1600">
                <a:solidFill>
                  <a:schemeClr val="accent3"/>
                </a:solidFill>
                <a:latin typeface="Consolas"/>
                <a:ea typeface="Consolas"/>
                <a:cs typeface="Consolas"/>
                <a:sym typeface="Consolas"/>
              </a:rPr>
              <a:t>in</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documents:</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rgbClr val="D4D4D4"/>
                </a:solidFill>
                <a:latin typeface="Consolas"/>
                <a:ea typeface="Consolas"/>
                <a:cs typeface="Consolas"/>
                <a:sym typeface="Consolas"/>
              </a:rPr>
              <a:t>    </a:t>
            </a:r>
            <a:r>
              <a:rPr lang="en" sz="1600">
                <a:solidFill>
                  <a:schemeClr val="accent3"/>
                </a:solidFill>
                <a:latin typeface="Consolas"/>
                <a:ea typeface="Consolas"/>
                <a:cs typeface="Consolas"/>
                <a:sym typeface="Consolas"/>
              </a:rPr>
              <a:t>if</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doc[</a:t>
            </a:r>
            <a:r>
              <a:rPr lang="en" sz="1600">
                <a:solidFill>
                  <a:schemeClr val="accent2"/>
                </a:solidFill>
                <a:latin typeface="Consolas"/>
                <a:ea typeface="Consolas"/>
                <a:cs typeface="Consolas"/>
                <a:sym typeface="Consolas"/>
              </a:rPr>
              <a:t>"course"</a:t>
            </a:r>
            <a:r>
              <a:rPr lang="en" sz="1600">
                <a:solidFill>
                  <a:schemeClr val="dk1"/>
                </a:solidFill>
                <a:latin typeface="Consolas"/>
                <a:ea typeface="Consolas"/>
                <a:cs typeface="Consolas"/>
                <a:sym typeface="Consolas"/>
              </a:rPr>
              <a:t>] == </a:t>
            </a:r>
            <a:r>
              <a:rPr lang="en" sz="1600">
                <a:solidFill>
                  <a:schemeClr val="accent2"/>
                </a:solidFill>
                <a:latin typeface="Consolas"/>
                <a:ea typeface="Consolas"/>
                <a:cs typeface="Consolas"/>
                <a:sym typeface="Consolas"/>
              </a:rPr>
              <a:t>"llm"</a:t>
            </a:r>
            <a:r>
              <a:rPr lang="en" sz="1600">
                <a:solidFill>
                  <a:srgbClr val="D4D4D4"/>
                </a:solidFill>
                <a:latin typeface="Consolas"/>
                <a:ea typeface="Consolas"/>
                <a:cs typeface="Consolas"/>
                <a:sym typeface="Consolas"/>
              </a:rPr>
              <a:t>:</a:t>
            </a:r>
            <a:endParaRPr sz="1600">
              <a:solidFill>
                <a:srgbClr val="D4D4D4"/>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documents_llm.append(doc)</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rgbClr val="D4D4D4"/>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len</a:t>
            </a:r>
            <a:r>
              <a:rPr lang="en" sz="1600">
                <a:solidFill>
                  <a:schemeClr val="dk1"/>
                </a:solidFill>
                <a:latin typeface="Consolas"/>
                <a:ea typeface="Consolas"/>
                <a:cs typeface="Consolas"/>
                <a:sym typeface="Consolas"/>
              </a:rPr>
              <a:t>(documents_llm)</a:t>
            </a:r>
            <a:endParaRPr sz="1600">
              <a:solidFill>
                <a:schemeClr val="dk1"/>
              </a:solidFill>
              <a:highlight>
                <a:srgbClr val="FFFFF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highlight>
                <a:srgbClr val="FFFFFF"/>
              </a:highlight>
              <a:latin typeface="Consolas"/>
              <a:ea typeface="Consolas"/>
              <a:cs typeface="Consolas"/>
              <a:sym typeface="Consolas"/>
            </a:endParaRPr>
          </a:p>
        </p:txBody>
      </p:sp>
      <p:sp>
        <p:nvSpPr>
          <p:cNvPr id="282" name="Google Shape;282;p4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cxnSp>
        <p:nvCxnSpPr>
          <p:cNvPr id="287" name="Google Shape;287;p4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88" name="Google Shape;288;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Loading the documents</a:t>
            </a:r>
            <a:endParaRPr/>
          </a:p>
        </p:txBody>
      </p:sp>
      <p:sp>
        <p:nvSpPr>
          <p:cNvPr id="289" name="Google Shape;289;p41"/>
          <p:cNvSpPr txBox="1"/>
          <p:nvPr/>
        </p:nvSpPr>
        <p:spPr>
          <a:xfrm>
            <a:off x="428625" y="714375"/>
            <a:ext cx="8286900" cy="80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We'll use helper files from module 01 and this module.</a:t>
            </a:r>
            <a:endParaRPr sz="1600">
              <a:solidFill>
                <a:schemeClr val="dk1"/>
              </a:solidFill>
              <a:latin typeface="Roboto"/>
              <a:ea typeface="Roboto"/>
              <a:cs typeface="Roboto"/>
              <a:sym typeface="Roboto"/>
            </a:endParaRPr>
          </a:p>
        </p:txBody>
      </p:sp>
      <p:sp>
        <p:nvSpPr>
          <p:cNvPr id="290" name="Google Shape;290;p41"/>
          <p:cNvSpPr txBox="1"/>
          <p:nvPr/>
        </p:nvSpPr>
        <p:spPr>
          <a:xfrm>
            <a:off x="443975" y="1184850"/>
            <a:ext cx="8229000" cy="1617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doc</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 documents[0]</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print</a:t>
            </a:r>
            <a:r>
              <a:rPr lang="en" sz="1600">
                <a:solidFill>
                  <a:schemeClr val="dk1"/>
                </a:solidFill>
                <a:latin typeface="Consolas"/>
                <a:ea typeface="Consolas"/>
                <a:cs typeface="Consolas"/>
                <a:sym typeface="Consolas"/>
              </a:rPr>
              <a:t>(doc[</a:t>
            </a:r>
            <a:r>
              <a:rPr lang="en" sz="1600">
                <a:solidFill>
                  <a:schemeClr val="accent2"/>
                </a:solidFill>
                <a:latin typeface="Consolas"/>
                <a:ea typeface="Consolas"/>
                <a:cs typeface="Consolas"/>
                <a:sym typeface="Consolas"/>
              </a:rPr>
              <a:t>"id"</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print</a:t>
            </a:r>
            <a:r>
              <a:rPr lang="en" sz="1600">
                <a:solidFill>
                  <a:schemeClr val="dk1"/>
                </a:solidFill>
                <a:latin typeface="Consolas"/>
                <a:ea typeface="Consolas"/>
                <a:cs typeface="Consolas"/>
                <a:sym typeface="Consolas"/>
              </a:rPr>
              <a:t>(doc[</a:t>
            </a:r>
            <a:r>
              <a:rPr lang="en" sz="1600">
                <a:solidFill>
                  <a:schemeClr val="accent2"/>
                </a:solidFill>
                <a:latin typeface="Consolas"/>
                <a:ea typeface="Consolas"/>
                <a:cs typeface="Consolas"/>
                <a:sym typeface="Consolas"/>
              </a:rPr>
              <a:t>"question"</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print</a:t>
            </a:r>
            <a:r>
              <a:rPr lang="en" sz="1600">
                <a:solidFill>
                  <a:schemeClr val="dk1"/>
                </a:solidFill>
                <a:latin typeface="Consolas"/>
                <a:ea typeface="Consolas"/>
                <a:cs typeface="Consolas"/>
                <a:sym typeface="Consolas"/>
              </a:rPr>
              <a:t>(doc[</a:t>
            </a:r>
            <a:r>
              <a:rPr lang="en" sz="1600">
                <a:solidFill>
                  <a:schemeClr val="accent2"/>
                </a:solidFill>
                <a:latin typeface="Consolas"/>
                <a:ea typeface="Consolas"/>
                <a:cs typeface="Consolas"/>
                <a:sym typeface="Consolas"/>
              </a:rPr>
              <a:t>"answer"</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chemeClr val="accent2"/>
              </a:solidFill>
              <a:highlight>
                <a:srgbClr val="FFFFFF"/>
              </a:highlight>
              <a:latin typeface="Consolas"/>
              <a:ea typeface="Consolas"/>
              <a:cs typeface="Consolas"/>
              <a:sym typeface="Consolas"/>
            </a:endParaRPr>
          </a:p>
        </p:txBody>
      </p:sp>
      <p:sp>
        <p:nvSpPr>
          <p:cNvPr id="291" name="Google Shape;291;p4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292" name="Google Shape;292;p41"/>
          <p:cNvSpPr txBox="1"/>
          <p:nvPr/>
        </p:nvSpPr>
        <p:spPr>
          <a:xfrm>
            <a:off x="356275" y="2895600"/>
            <a:ext cx="8316600" cy="20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The ID becomes the label in our ground truth dataset. We generate questions from a document, so we know that this document holds the answer. Later, search evaluation checks whether search brings back the document with this ID.</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This is why every record needs a stable ID. If you can't uniquely identify a document, you can't tell whether search retrieved the right one. When you build your own evaluation set, assign an ID to each record in your knowledge base first.</a:t>
            </a:r>
            <a:endParaRPr sz="16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Generating questions with structured output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298" name="Google Shape;298;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42"/>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 with structured output</a:t>
            </a:r>
            <a:endParaRPr>
              <a:solidFill>
                <a:schemeClr val="accent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p43"/>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05" name="Google Shape;305;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questions with structured output</a:t>
            </a:r>
            <a:endParaRPr/>
          </a:p>
        </p:txBody>
      </p:sp>
      <p:sp>
        <p:nvSpPr>
          <p:cNvPr id="306" name="Google Shape;306;p43"/>
          <p:cNvSpPr txBox="1"/>
          <p:nvPr/>
        </p:nvSpPr>
        <p:spPr>
          <a:xfrm>
            <a:off x="428625" y="714375"/>
            <a:ext cx="8286900" cy="80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Roboto"/>
                <a:ea typeface="Roboto"/>
                <a:cs typeface="Roboto"/>
                <a:sym typeface="Roboto"/>
              </a:rPr>
              <a:t>We use an LLM to generate questions for each document.</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600">
                <a:solidFill>
                  <a:schemeClr val="dk1"/>
                </a:solidFill>
                <a:latin typeface="Roboto"/>
                <a:ea typeface="Roboto"/>
                <a:cs typeface="Roboto"/>
                <a:sym typeface="Roboto"/>
              </a:rPr>
              <a:t>This is the first time we're using structured output in the course. With structured output, we ask the LLM to return data in a specific format instead of free-form text. For example, instead of getting a paragraph that contains questions, we can ask for a Python object with a questions field.</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This is useful when code will process the output. The model returns the same structure every time. We can access the generated questions directly instead of parsing text manually.</a:t>
            </a:r>
            <a:endParaRPr sz="1600">
              <a:solidFill>
                <a:schemeClr val="dk1"/>
              </a:solidFill>
              <a:latin typeface="Roboto"/>
              <a:ea typeface="Roboto"/>
              <a:cs typeface="Roboto"/>
              <a:sym typeface="Roboto"/>
            </a:endParaRPr>
          </a:p>
        </p:txBody>
      </p:sp>
      <p:sp>
        <p:nvSpPr>
          <p:cNvPr id="307" name="Google Shape;307;p4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cxnSp>
        <p:nvCxnSpPr>
          <p:cNvPr id="312" name="Google Shape;312;p4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13" name="Google Shape;313;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Generating questions with structured output</a:t>
            </a:r>
            <a:endParaRPr>
              <a:solidFill>
                <a:schemeClr val="accent3"/>
              </a:solidFill>
            </a:endParaRPr>
          </a:p>
          <a:p>
            <a:pPr indent="0" lvl="0" marL="0" rtl="0" algn="l">
              <a:spcBef>
                <a:spcPts val="0"/>
              </a:spcBef>
              <a:spcAft>
                <a:spcPts val="0"/>
              </a:spcAft>
              <a:buNone/>
            </a:pPr>
            <a:r>
              <a:t/>
            </a:r>
            <a:endParaRPr/>
          </a:p>
        </p:txBody>
      </p:sp>
      <p:sp>
        <p:nvSpPr>
          <p:cNvPr id="314" name="Google Shape;314;p44"/>
          <p:cNvSpPr txBox="1"/>
          <p:nvPr/>
        </p:nvSpPr>
        <p:spPr>
          <a:xfrm>
            <a:off x="443975" y="1184850"/>
            <a:ext cx="8229000" cy="1617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a:t>
            </a:r>
            <a:r>
              <a:rPr lang="en" sz="1600">
                <a:solidFill>
                  <a:schemeClr val="accent3"/>
                </a:solidFill>
                <a:latin typeface="Consolas"/>
                <a:ea typeface="Consolas"/>
                <a:cs typeface="Consolas"/>
                <a:sym typeface="Consolas"/>
              </a:rPr>
              <a:t>rom</a:t>
            </a:r>
            <a:r>
              <a:rPr lang="en" sz="1600">
                <a:solidFill>
                  <a:schemeClr val="dk1"/>
                </a:solidFill>
                <a:latin typeface="Consolas"/>
                <a:ea typeface="Consolas"/>
                <a:cs typeface="Consolas"/>
                <a:sym typeface="Consolas"/>
              </a:rPr>
              <a:t> pydantic </a:t>
            </a:r>
            <a:r>
              <a:rPr lang="en" sz="1600">
                <a:solidFill>
                  <a:schemeClr val="accent3"/>
                </a:solidFill>
                <a:latin typeface="Consolas"/>
                <a:ea typeface="Consolas"/>
                <a:cs typeface="Consolas"/>
                <a:sym typeface="Consolas"/>
              </a:rPr>
              <a:t>import</a:t>
            </a:r>
            <a:r>
              <a:rPr lang="en" sz="1600">
                <a:solidFill>
                  <a:schemeClr val="dk1"/>
                </a:solidFill>
                <a:latin typeface="Consolas"/>
                <a:ea typeface="Consolas"/>
                <a:cs typeface="Consolas"/>
                <a:sym typeface="Consolas"/>
              </a:rPr>
              <a:t> BaseModel</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class</a:t>
            </a:r>
            <a:r>
              <a:rPr lang="en" sz="1600">
                <a:solidFill>
                  <a:schemeClr val="dk1"/>
                </a:solidFill>
                <a:latin typeface="Consolas"/>
                <a:ea typeface="Consolas"/>
                <a:cs typeface="Consolas"/>
                <a:sym typeface="Consolas"/>
              </a:rPr>
              <a:t> Questions(BaseModel):</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questions: list[str]</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p:txBody>
      </p:sp>
      <p:sp>
        <p:nvSpPr>
          <p:cNvPr id="315" name="Google Shape;315;p4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16" name="Google Shape;316;p44"/>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We want the output as a list of strings, so we define that structure with a Pydantic model:</a:t>
            </a:r>
            <a:endParaRPr sz="1600">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cxnSp>
        <p:nvCxnSpPr>
          <p:cNvPr id="321" name="Google Shape;321;p45"/>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22" name="Google Shape;322;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questions with structured output</a:t>
            </a:r>
            <a:endParaRPr/>
          </a:p>
        </p:txBody>
      </p:sp>
      <p:sp>
        <p:nvSpPr>
          <p:cNvPr id="323" name="Google Shape;323;p45"/>
          <p:cNvSpPr txBox="1"/>
          <p:nvPr/>
        </p:nvSpPr>
        <p:spPr>
          <a:xfrm>
            <a:off x="443975" y="1184850"/>
            <a:ext cx="8229000" cy="30306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data_gen_instructions = </a:t>
            </a:r>
            <a:r>
              <a:rPr lang="en" sz="1600">
                <a:solidFill>
                  <a:schemeClr val="accent3"/>
                </a:solidFill>
                <a:latin typeface="Consolas"/>
                <a:ea typeface="Consolas"/>
                <a:cs typeface="Consolas"/>
                <a:sym typeface="Consolas"/>
              </a:rPr>
              <a:t>"""</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You emulate a student who's taking our course.</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Formulate 5 questions this student might ask based on a FAQ record. The record</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should contain the answer to the questions, and the questions should be complete and not too short.</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If possible, use as fewer words as possible from the record.</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The output should resemble how people ask questions</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on the internet. Not too formal, not too short, not too long.</a:t>
            </a:r>
            <a:endParaRPr sz="1600">
              <a:solidFill>
                <a:schemeClr val="accent3"/>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a:t>
            </a:r>
            <a:r>
              <a:rPr lang="en" sz="1600">
                <a:solidFill>
                  <a:schemeClr val="dk1"/>
                </a:solidFill>
                <a:latin typeface="Consolas"/>
                <a:ea typeface="Consolas"/>
                <a:cs typeface="Consolas"/>
                <a:sym typeface="Consolas"/>
              </a:rPr>
              <a:t>.strip()</a:t>
            </a:r>
            <a:endParaRPr sz="1600">
              <a:solidFill>
                <a:schemeClr val="dk1"/>
              </a:solidFill>
              <a:latin typeface="Consolas"/>
              <a:ea typeface="Consolas"/>
              <a:cs typeface="Consolas"/>
              <a:sym typeface="Consolas"/>
            </a:endParaRPr>
          </a:p>
        </p:txBody>
      </p:sp>
      <p:sp>
        <p:nvSpPr>
          <p:cNvPr id="324" name="Google Shape;324;p4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25" name="Google Shape;325;p45"/>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rPr>
              <a:t>The instructions for the LLM:</a:t>
            </a:r>
            <a:endParaRPr sz="1600">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cxnSp>
        <p:nvCxnSpPr>
          <p:cNvPr id="330" name="Google Shape;330;p46"/>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31" name="Google Shape;331;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questions with structured output</a:t>
            </a:r>
            <a:endParaRPr/>
          </a:p>
        </p:txBody>
      </p:sp>
      <p:sp>
        <p:nvSpPr>
          <p:cNvPr id="332" name="Google Shape;332;p46"/>
          <p:cNvSpPr txBox="1"/>
          <p:nvPr/>
        </p:nvSpPr>
        <p:spPr>
          <a:xfrm>
            <a:off x="443975" y="1920450"/>
            <a:ext cx="8229000" cy="1588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569CD6"/>
                </a:solidFill>
                <a:latin typeface="Consolas"/>
                <a:ea typeface="Consolas"/>
                <a:cs typeface="Consolas"/>
                <a:sym typeface="Consolas"/>
              </a:rPr>
              <a:t>from</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dotenv</a:t>
            </a:r>
            <a:r>
              <a:rPr lang="en" sz="1600">
                <a:solidFill>
                  <a:srgbClr val="D4D4D4"/>
                </a:solidFill>
                <a:latin typeface="Consolas"/>
                <a:ea typeface="Consolas"/>
                <a:cs typeface="Consolas"/>
                <a:sym typeface="Consolas"/>
              </a:rPr>
              <a:t> </a:t>
            </a:r>
            <a:r>
              <a:rPr lang="en" sz="1600">
                <a:solidFill>
                  <a:srgbClr val="569CD6"/>
                </a:solidFill>
                <a:latin typeface="Consolas"/>
                <a:ea typeface="Consolas"/>
                <a:cs typeface="Consolas"/>
                <a:sym typeface="Consolas"/>
              </a:rPr>
              <a:t>import</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load_dotenv</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rgbClr val="569CD6"/>
                </a:solidFill>
                <a:latin typeface="Consolas"/>
                <a:ea typeface="Consolas"/>
                <a:cs typeface="Consolas"/>
                <a:sym typeface="Consolas"/>
              </a:rPr>
              <a:t>from</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openai</a:t>
            </a:r>
            <a:r>
              <a:rPr lang="en" sz="1600">
                <a:solidFill>
                  <a:srgbClr val="D4D4D4"/>
                </a:solidFill>
                <a:latin typeface="Consolas"/>
                <a:ea typeface="Consolas"/>
                <a:cs typeface="Consolas"/>
                <a:sym typeface="Consolas"/>
              </a:rPr>
              <a:t> </a:t>
            </a:r>
            <a:r>
              <a:rPr lang="en" sz="1600">
                <a:solidFill>
                  <a:srgbClr val="569CD6"/>
                </a:solidFill>
                <a:latin typeface="Consolas"/>
                <a:ea typeface="Consolas"/>
                <a:cs typeface="Consolas"/>
                <a:sym typeface="Consolas"/>
              </a:rPr>
              <a:t>import</a:t>
            </a:r>
            <a:r>
              <a:rPr lang="en" sz="1600">
                <a:solidFill>
                  <a:srgbClr val="D4D4D4"/>
                </a:solidFill>
                <a:latin typeface="Consolas"/>
                <a:ea typeface="Consolas"/>
                <a:cs typeface="Consolas"/>
                <a:sym typeface="Consolas"/>
              </a:rPr>
              <a:t> </a:t>
            </a:r>
            <a:r>
              <a:rPr lang="en" sz="1600">
                <a:solidFill>
                  <a:schemeClr val="dk1"/>
                </a:solidFill>
                <a:latin typeface="Consolas"/>
                <a:ea typeface="Consolas"/>
                <a:cs typeface="Consolas"/>
                <a:sym typeface="Consolas"/>
              </a:rPr>
              <a:t>OpenAI</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rgbClr val="D4D4D4"/>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load_dotenv()</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openai_client = OpenAI()</a:t>
            </a:r>
            <a:endParaRPr sz="1600">
              <a:solidFill>
                <a:schemeClr val="dk1"/>
              </a:solidFill>
              <a:latin typeface="Consolas"/>
              <a:ea typeface="Consolas"/>
              <a:cs typeface="Consolas"/>
              <a:sym typeface="Consolas"/>
            </a:endParaRPr>
          </a:p>
        </p:txBody>
      </p:sp>
      <p:sp>
        <p:nvSpPr>
          <p:cNvPr id="333" name="Google Shape;333;p46"/>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34" name="Google Shape;334;p46"/>
          <p:cNvSpPr txBox="1"/>
          <p:nvPr/>
        </p:nvSpPr>
        <p:spPr>
          <a:xfrm>
            <a:off x="304800" y="609600"/>
            <a:ext cx="88002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We ask the LLM to use different wording from the original document. This makes the evaluation more realistic - real users won't phrase their questions the same way as the FAQ.</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Call the LLM for one document:</a:t>
            </a:r>
            <a:endParaRPr sz="1600">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cxnSp>
        <p:nvCxnSpPr>
          <p:cNvPr id="339" name="Google Shape;339;p47"/>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40" name="Google Shape;340;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questions with structured output</a:t>
            </a:r>
            <a:endParaRPr/>
          </a:p>
        </p:txBody>
      </p:sp>
      <p:sp>
        <p:nvSpPr>
          <p:cNvPr id="341" name="Google Shape;341;p47"/>
          <p:cNvSpPr txBox="1"/>
          <p:nvPr/>
        </p:nvSpPr>
        <p:spPr>
          <a:xfrm>
            <a:off x="443975" y="1179100"/>
            <a:ext cx="8229000" cy="214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import </a:t>
            </a:r>
            <a:r>
              <a:rPr lang="en" sz="1600">
                <a:solidFill>
                  <a:schemeClr val="accent2"/>
                </a:solidFill>
                <a:latin typeface="Consolas"/>
                <a:ea typeface="Consolas"/>
                <a:cs typeface="Consolas"/>
                <a:sym typeface="Consolas"/>
              </a:rPr>
              <a:t>json</a:t>
            </a:r>
            <a:endParaRPr sz="1600">
              <a:solidFill>
                <a:schemeClr val="accent2"/>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user_prompt = json.</a:t>
            </a:r>
            <a:r>
              <a:rPr lang="en" sz="1600">
                <a:solidFill>
                  <a:schemeClr val="accent2"/>
                </a:solidFill>
                <a:latin typeface="Consolas"/>
                <a:ea typeface="Consolas"/>
                <a:cs typeface="Consolas"/>
                <a:sym typeface="Consolas"/>
              </a:rPr>
              <a:t>dumps</a:t>
            </a:r>
            <a:r>
              <a:rPr lang="en" sz="1600">
                <a:solidFill>
                  <a:schemeClr val="dk1"/>
                </a:solidFill>
                <a:latin typeface="Consolas"/>
                <a:ea typeface="Consolas"/>
                <a:cs typeface="Consolas"/>
                <a:sym typeface="Consolas"/>
              </a:rPr>
              <a:t>(doc)</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messages =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"role"</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"developer"</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"content"</a:t>
            </a:r>
            <a:r>
              <a:rPr lang="en" sz="1600">
                <a:solidFill>
                  <a:schemeClr val="dk1"/>
                </a:solidFill>
                <a:latin typeface="Consolas"/>
                <a:ea typeface="Consolas"/>
                <a:cs typeface="Consolas"/>
                <a:sym typeface="Consolas"/>
              </a:rPr>
              <a:t>: data_gen_instructions},</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"role"</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"user"</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"content"</a:t>
            </a:r>
            <a:r>
              <a:rPr lang="en" sz="1600">
                <a:solidFill>
                  <a:schemeClr val="dk1"/>
                </a:solidFill>
                <a:latin typeface="Consolas"/>
                <a:ea typeface="Consolas"/>
                <a:cs typeface="Consolas"/>
                <a:sym typeface="Consolas"/>
              </a:rPr>
              <a:t>: user_prompt}</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p:txBody>
      </p:sp>
      <p:sp>
        <p:nvSpPr>
          <p:cNvPr id="342" name="Google Shape;342;p47"/>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43" name="Google Shape;343;p47"/>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Prepare the document as JSON and Create the messages:</a:t>
            </a:r>
            <a:endParaRPr sz="1600">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cxnSp>
        <p:nvCxnSpPr>
          <p:cNvPr id="348" name="Google Shape;348;p48"/>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49" name="Google Shape;349;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questions with structured output</a:t>
            </a:r>
            <a:endParaRPr/>
          </a:p>
        </p:txBody>
      </p:sp>
      <p:sp>
        <p:nvSpPr>
          <p:cNvPr id="350" name="Google Shape;350;p48"/>
          <p:cNvSpPr txBox="1"/>
          <p:nvPr/>
        </p:nvSpPr>
        <p:spPr>
          <a:xfrm>
            <a:off x="443975" y="2093500"/>
            <a:ext cx="8229000" cy="1582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response = openai_client.</a:t>
            </a:r>
            <a:r>
              <a:rPr lang="en" sz="1600">
                <a:solidFill>
                  <a:schemeClr val="accent3"/>
                </a:solidFill>
                <a:latin typeface="Consolas"/>
                <a:ea typeface="Consolas"/>
                <a:cs typeface="Consolas"/>
                <a:sym typeface="Consolas"/>
              </a:rPr>
              <a:t>responses</a:t>
            </a:r>
            <a:r>
              <a:rPr lang="en" sz="1600">
                <a:solidFill>
                  <a:schemeClr val="dk1"/>
                </a:solidFill>
                <a:latin typeface="Consolas"/>
                <a:ea typeface="Consolas"/>
                <a:cs typeface="Consolas"/>
                <a:sym typeface="Consolas"/>
              </a:rPr>
              <a:t>.</a:t>
            </a:r>
            <a:r>
              <a:rPr lang="en" sz="1600">
                <a:solidFill>
                  <a:schemeClr val="accent3"/>
                </a:solidFill>
                <a:latin typeface="Consolas"/>
                <a:ea typeface="Consolas"/>
                <a:cs typeface="Consolas"/>
                <a:sym typeface="Consolas"/>
              </a:rPr>
              <a:t>parse</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model=</a:t>
            </a:r>
            <a:r>
              <a:rPr lang="en" sz="1600">
                <a:solidFill>
                  <a:schemeClr val="accent3"/>
                </a:solidFill>
                <a:latin typeface="Consolas"/>
                <a:ea typeface="Consolas"/>
                <a:cs typeface="Consolas"/>
                <a:sym typeface="Consolas"/>
              </a:rPr>
              <a:t>"gpt-5.4-mini"</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input=</a:t>
            </a:r>
            <a:r>
              <a:rPr lang="en" sz="1600">
                <a:solidFill>
                  <a:schemeClr val="accent3"/>
                </a:solidFill>
                <a:latin typeface="Consolas"/>
                <a:ea typeface="Consolas"/>
                <a:cs typeface="Consolas"/>
                <a:sym typeface="Consolas"/>
              </a:rPr>
              <a:t>messages</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text_format=</a:t>
            </a:r>
            <a:r>
              <a:rPr lang="en" sz="1600">
                <a:solidFill>
                  <a:schemeClr val="accent3"/>
                </a:solidFill>
                <a:latin typeface="Consolas"/>
                <a:ea typeface="Consolas"/>
                <a:cs typeface="Consolas"/>
                <a:sym typeface="Consolas"/>
              </a:rPr>
              <a:t>Questions</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p:txBody>
      </p:sp>
      <p:sp>
        <p:nvSpPr>
          <p:cNvPr id="351" name="Google Shape;351;p4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52" name="Google Shape;352;p48"/>
          <p:cNvSpPr txBox="1"/>
          <p:nvPr/>
        </p:nvSpPr>
        <p:spPr>
          <a:xfrm>
            <a:off x="304800" y="609600"/>
            <a:ext cx="8800200" cy="14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Until now we called responses.create and read response.output_text. For structured output we switch to responses.parse and pass text_format=Questions, which tells the API to return our class instead of free text.</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Call the model:</a:t>
            </a:r>
            <a:endParaRPr sz="1600">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cxnSp>
        <p:nvCxnSpPr>
          <p:cNvPr id="357" name="Google Shape;357;p49"/>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58" name="Google Shape;358;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questions with structured output</a:t>
            </a:r>
            <a:endParaRPr/>
          </a:p>
        </p:txBody>
      </p:sp>
      <p:sp>
        <p:nvSpPr>
          <p:cNvPr id="359" name="Google Shape;359;p49"/>
          <p:cNvSpPr txBox="1"/>
          <p:nvPr/>
        </p:nvSpPr>
        <p:spPr>
          <a:xfrm>
            <a:off x="443975" y="1102900"/>
            <a:ext cx="8229000" cy="89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result = response.</a:t>
            </a:r>
            <a:r>
              <a:rPr lang="en" sz="1600">
                <a:solidFill>
                  <a:schemeClr val="accent3"/>
                </a:solidFill>
                <a:latin typeface="Consolas"/>
                <a:ea typeface="Consolas"/>
                <a:cs typeface="Consolas"/>
                <a:sym typeface="Consolas"/>
              </a:rPr>
              <a:t>output_parsed</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print</a:t>
            </a:r>
            <a:r>
              <a:rPr lang="en" sz="1600">
                <a:solidFill>
                  <a:schemeClr val="dk1"/>
                </a:solidFill>
                <a:latin typeface="Consolas"/>
                <a:ea typeface="Consolas"/>
                <a:cs typeface="Consolas"/>
                <a:sym typeface="Consolas"/>
              </a:rPr>
              <a:t>(result.</a:t>
            </a:r>
            <a:r>
              <a:rPr lang="en" sz="1600">
                <a:solidFill>
                  <a:schemeClr val="accent3"/>
                </a:solidFill>
                <a:latin typeface="Consolas"/>
                <a:ea typeface="Consolas"/>
                <a:cs typeface="Consolas"/>
                <a:sym typeface="Consolas"/>
              </a:rPr>
              <a:t>questions</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rgbClr val="D4D4D4"/>
              </a:solidFill>
              <a:latin typeface="Consolas"/>
              <a:ea typeface="Consolas"/>
              <a:cs typeface="Consolas"/>
              <a:sym typeface="Consolas"/>
            </a:endParaRPr>
          </a:p>
        </p:txBody>
      </p:sp>
      <p:sp>
        <p:nvSpPr>
          <p:cNvPr id="360" name="Google Shape;360;p4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61" name="Google Shape;361;p49"/>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The parsed object is available in response.output_parsed:</a:t>
            </a:r>
            <a:endParaRPr sz="16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0"/>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Reusable utilities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367" name="Google Shape;367;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50"/>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Reusable</a:t>
            </a:r>
            <a:r>
              <a:rPr lang="en">
                <a:solidFill>
                  <a:schemeClr val="accent3"/>
                </a:solidFill>
              </a:rPr>
              <a:t> utilities</a:t>
            </a:r>
            <a:endParaRPr>
              <a:solidFill>
                <a:schemeClr val="accent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cxnSp>
        <p:nvCxnSpPr>
          <p:cNvPr id="373" name="Google Shape;373;p5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74" name="Google Shape;374;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Reusable utilities</a:t>
            </a:r>
            <a:endParaRPr/>
          </a:p>
        </p:txBody>
      </p:sp>
      <p:sp>
        <p:nvSpPr>
          <p:cNvPr id="375" name="Google Shape;375;p5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76" name="Google Shape;376;p51"/>
          <p:cNvSpPr txBox="1"/>
          <p:nvPr/>
        </p:nvSpPr>
        <p:spPr>
          <a:xfrm>
            <a:off x="304800" y="609600"/>
            <a:ext cx="8800200" cy="28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We'll need this pattern again in other evaluation sections today, so we put it in a reusable helper.</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It contains helper functions we'll reuse in this module:</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Char char="●"/>
            </a:pPr>
            <a:r>
              <a:rPr lang="en" sz="1600">
                <a:solidFill>
                  <a:schemeClr val="dk1"/>
                </a:solidFill>
                <a:latin typeface="Roboto"/>
                <a:ea typeface="Roboto"/>
                <a:cs typeface="Roboto"/>
                <a:sym typeface="Roboto"/>
              </a:rPr>
              <a:t>llm_structured: calls the OpenAI API with structured output</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llm_structured_retry: retries structured-output calls when a request fails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calc_price: calculates the price from token usage</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calc_total_price: calculates the total price from multiple usage objects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map_progress: runs work in parallel and tracks progress. We'll use it in the next lesson.</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t/>
            </a:r>
            <a:endParaRPr sz="1600">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cxnSp>
        <p:nvCxnSpPr>
          <p:cNvPr id="381" name="Google Shape;381;p5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82" name="Google Shape;382;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Reusable utilities</a:t>
            </a:r>
            <a:endParaRPr/>
          </a:p>
        </p:txBody>
      </p:sp>
      <p:sp>
        <p:nvSpPr>
          <p:cNvPr id="383" name="Google Shape;383;p5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84" name="Google Shape;384;p52"/>
          <p:cNvSpPr txBox="1"/>
          <p:nvPr/>
        </p:nvSpPr>
        <p:spPr>
          <a:xfrm>
            <a:off x="304800" y="609600"/>
            <a:ext cx="8800200" cy="86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We'll need this pattern again in other evaluation sections today, so we put it in a reusable helper.</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It contains helper functions we'll reuse in this module:</a:t>
            </a:r>
            <a:endParaRPr sz="1600">
              <a:solidFill>
                <a:schemeClr val="dk1"/>
              </a:solidFill>
              <a:latin typeface="Roboto"/>
              <a:ea typeface="Roboto"/>
              <a:cs typeface="Roboto"/>
              <a:sym typeface="Roboto"/>
            </a:endParaRPr>
          </a:p>
        </p:txBody>
      </p:sp>
      <p:sp>
        <p:nvSpPr>
          <p:cNvPr id="385" name="Google Shape;385;p52"/>
          <p:cNvSpPr txBox="1"/>
          <p:nvPr/>
        </p:nvSpPr>
        <p:spPr>
          <a:xfrm>
            <a:off x="443975" y="1560100"/>
            <a:ext cx="8229000" cy="2728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from</a:t>
            </a:r>
            <a:r>
              <a:rPr lang="en" sz="1600">
                <a:solidFill>
                  <a:schemeClr val="dk1"/>
                </a:solidFill>
                <a:latin typeface="Consolas"/>
                <a:ea typeface="Consolas"/>
                <a:cs typeface="Consolas"/>
                <a:sym typeface="Consolas"/>
              </a:rPr>
              <a:t> evaluation_utils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llm_structured</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result, usage = llm_structured(</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openai_client</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data_gen_instructions</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user_prompt</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Questions</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print</a:t>
            </a:r>
            <a:r>
              <a:rPr lang="en" sz="1600">
                <a:solidFill>
                  <a:schemeClr val="dk1"/>
                </a:solidFill>
                <a:latin typeface="Consolas"/>
                <a:ea typeface="Consolas"/>
                <a:cs typeface="Consolas"/>
                <a:sym typeface="Consolas"/>
              </a:rPr>
              <a:t>(result.</a:t>
            </a:r>
            <a:r>
              <a:rPr lang="en" sz="1600">
                <a:solidFill>
                  <a:schemeClr val="accent3"/>
                </a:solidFill>
                <a:latin typeface="Consolas"/>
                <a:ea typeface="Consolas"/>
                <a:cs typeface="Consolas"/>
                <a:sym typeface="Consolas"/>
              </a:rPr>
              <a:t>questions</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Tracking cost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391" name="Google Shape;391;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3"/>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Tracking cost</a:t>
            </a:r>
            <a:endParaRPr>
              <a:solidFill>
                <a:schemeClr val="accent3"/>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cxnSp>
        <p:nvCxnSpPr>
          <p:cNvPr id="397" name="Google Shape;397;p5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98" name="Google Shape;39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Tracking cost</a:t>
            </a:r>
            <a:endParaRPr/>
          </a:p>
        </p:txBody>
      </p:sp>
      <p:sp>
        <p:nvSpPr>
          <p:cNvPr id="399" name="Google Shape;399;p5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00" name="Google Shape;400;p54"/>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The response also contains token usage:</a:t>
            </a:r>
            <a:endParaRPr sz="1600">
              <a:solidFill>
                <a:schemeClr val="dk1"/>
              </a:solidFill>
              <a:latin typeface="Roboto"/>
              <a:ea typeface="Roboto"/>
              <a:cs typeface="Roboto"/>
              <a:sym typeface="Roboto"/>
            </a:endParaRPr>
          </a:p>
        </p:txBody>
      </p:sp>
      <p:sp>
        <p:nvSpPr>
          <p:cNvPr id="401" name="Google Shape;401;p54"/>
          <p:cNvSpPr txBox="1"/>
          <p:nvPr/>
        </p:nvSpPr>
        <p:spPr>
          <a:xfrm>
            <a:off x="443975" y="1255300"/>
            <a:ext cx="8229000" cy="1830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usage.</a:t>
            </a:r>
            <a:r>
              <a:rPr lang="en" sz="1600">
                <a:solidFill>
                  <a:schemeClr val="accent3"/>
                </a:solidFill>
                <a:latin typeface="Consolas"/>
                <a:ea typeface="Consolas"/>
                <a:cs typeface="Consolas"/>
                <a:sym typeface="Consolas"/>
              </a:rPr>
              <a:t>input_tokens</a:t>
            </a:r>
            <a:r>
              <a:rPr lang="en" sz="1600">
                <a:solidFill>
                  <a:schemeClr val="dk1"/>
                </a:solidFill>
                <a:latin typeface="Consolas"/>
                <a:ea typeface="Consolas"/>
                <a:cs typeface="Consolas"/>
                <a:sym typeface="Consolas"/>
              </a:rPr>
              <a:t>, usage.</a:t>
            </a:r>
            <a:r>
              <a:rPr lang="en" sz="1600">
                <a:solidFill>
                  <a:schemeClr val="accent3"/>
                </a:solidFill>
                <a:latin typeface="Consolas"/>
                <a:ea typeface="Consolas"/>
                <a:cs typeface="Consolas"/>
                <a:sym typeface="Consolas"/>
              </a:rPr>
              <a:t>output_tokens</a:t>
            </a:r>
            <a:endParaRPr sz="1600">
              <a:solidFill>
                <a:schemeClr val="accent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from</a:t>
            </a:r>
            <a:r>
              <a:rPr lang="en" sz="1600">
                <a:solidFill>
                  <a:schemeClr val="dk1"/>
                </a:solidFill>
                <a:latin typeface="Consolas"/>
                <a:ea typeface="Consolas"/>
                <a:cs typeface="Consolas"/>
                <a:sym typeface="Consolas"/>
              </a:rPr>
              <a:t> evaluation_utils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calc_price</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cost = </a:t>
            </a:r>
            <a:r>
              <a:rPr lang="en" sz="1600">
                <a:solidFill>
                  <a:schemeClr val="accent3"/>
                </a:solidFill>
                <a:latin typeface="Consolas"/>
                <a:ea typeface="Consolas"/>
                <a:cs typeface="Consolas"/>
                <a:sym typeface="Consolas"/>
              </a:rPr>
              <a:t>calc_price</a:t>
            </a:r>
            <a:r>
              <a:rPr lang="en" sz="1600">
                <a:solidFill>
                  <a:schemeClr val="dk1"/>
                </a:solidFill>
                <a:latin typeface="Consolas"/>
                <a:ea typeface="Consolas"/>
                <a:cs typeface="Consolas"/>
                <a:sym typeface="Consolas"/>
              </a:rPr>
              <a:t>(usage)</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cost</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55"/>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07" name="Google Shape;407;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Tracking cost</a:t>
            </a:r>
            <a:endParaRPr/>
          </a:p>
        </p:txBody>
      </p:sp>
      <p:sp>
        <p:nvSpPr>
          <p:cNvPr id="408" name="Google Shape;408;p5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09" name="Google Shape;409;p55"/>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Now convert these questions into ground truth record</a:t>
            </a:r>
            <a:r>
              <a:rPr lang="en" sz="1600">
                <a:solidFill>
                  <a:schemeClr val="dk1"/>
                </a:solidFill>
                <a:latin typeface="Roboto"/>
                <a:ea typeface="Roboto"/>
                <a:cs typeface="Roboto"/>
                <a:sym typeface="Roboto"/>
              </a:rPr>
              <a:t>s</a:t>
            </a:r>
            <a:r>
              <a:rPr lang="en" sz="1600">
                <a:solidFill>
                  <a:schemeClr val="dk1"/>
                </a:solidFill>
                <a:latin typeface="Roboto"/>
                <a:ea typeface="Roboto"/>
                <a:cs typeface="Roboto"/>
                <a:sym typeface="Roboto"/>
              </a:rPr>
              <a:t>:</a:t>
            </a:r>
            <a:endParaRPr sz="1600">
              <a:solidFill>
                <a:schemeClr val="dk1"/>
              </a:solidFill>
              <a:latin typeface="Roboto"/>
              <a:ea typeface="Roboto"/>
              <a:cs typeface="Roboto"/>
              <a:sym typeface="Roboto"/>
            </a:endParaRPr>
          </a:p>
        </p:txBody>
      </p:sp>
      <p:sp>
        <p:nvSpPr>
          <p:cNvPr id="410" name="Google Shape;410;p55"/>
          <p:cNvSpPr txBox="1"/>
          <p:nvPr/>
        </p:nvSpPr>
        <p:spPr>
          <a:xfrm>
            <a:off x="443975" y="1255300"/>
            <a:ext cx="8229000" cy="275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records = []</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for</a:t>
            </a:r>
            <a:r>
              <a:rPr lang="en" sz="1600">
                <a:solidFill>
                  <a:schemeClr val="dk1"/>
                </a:solidFill>
                <a:latin typeface="Consolas"/>
                <a:ea typeface="Consolas"/>
                <a:cs typeface="Consolas"/>
                <a:sym typeface="Consolas"/>
              </a:rPr>
              <a:t> q </a:t>
            </a:r>
            <a:r>
              <a:rPr lang="en" sz="1600">
                <a:solidFill>
                  <a:schemeClr val="accent2"/>
                </a:solidFill>
                <a:latin typeface="Consolas"/>
                <a:ea typeface="Consolas"/>
                <a:cs typeface="Consolas"/>
                <a:sym typeface="Consolas"/>
              </a:rPr>
              <a:t>in</a:t>
            </a:r>
            <a:r>
              <a:rPr lang="en" sz="1600">
                <a:solidFill>
                  <a:schemeClr val="dk1"/>
                </a:solidFill>
                <a:latin typeface="Consolas"/>
                <a:ea typeface="Consolas"/>
                <a:cs typeface="Consolas"/>
                <a:sym typeface="Consolas"/>
              </a:rPr>
              <a:t> result.</a:t>
            </a:r>
            <a:r>
              <a:rPr lang="en" sz="1600">
                <a:solidFill>
                  <a:schemeClr val="accent3"/>
                </a:solidFill>
                <a:latin typeface="Consolas"/>
                <a:ea typeface="Consolas"/>
                <a:cs typeface="Consolas"/>
                <a:sym typeface="Consolas"/>
              </a:rPr>
              <a:t>questions</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records.</a:t>
            </a:r>
            <a:r>
              <a:rPr lang="en" sz="1600">
                <a:solidFill>
                  <a:schemeClr val="accent3"/>
                </a:solidFill>
                <a:latin typeface="Consolas"/>
                <a:ea typeface="Consolas"/>
                <a:cs typeface="Consolas"/>
                <a:sym typeface="Consolas"/>
              </a:rPr>
              <a:t>append</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"question"</a:t>
            </a:r>
            <a:r>
              <a:rPr lang="en" sz="1600">
                <a:solidFill>
                  <a:schemeClr val="dk1"/>
                </a:solidFill>
                <a:latin typeface="Consolas"/>
                <a:ea typeface="Consolas"/>
                <a:cs typeface="Consolas"/>
                <a:sym typeface="Consolas"/>
              </a:rPr>
              <a:t>: q,</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"document"</a:t>
            </a:r>
            <a:r>
              <a:rPr lang="en" sz="1600">
                <a:solidFill>
                  <a:schemeClr val="dk1"/>
                </a:solidFill>
                <a:latin typeface="Consolas"/>
                <a:ea typeface="Consolas"/>
                <a:cs typeface="Consolas"/>
                <a:sym typeface="Consolas"/>
              </a:rPr>
              <a:t>: doc[</a:t>
            </a:r>
            <a:r>
              <a:rPr lang="en" sz="1600">
                <a:solidFill>
                  <a:schemeClr val="accent3"/>
                </a:solidFill>
                <a:latin typeface="Consolas"/>
                <a:ea typeface="Consolas"/>
                <a:cs typeface="Consolas"/>
                <a:sym typeface="Consolas"/>
              </a:rPr>
              <a:t>"id"</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records</a:t>
            </a:r>
            <a:endParaRPr sz="1600">
              <a:solidFill>
                <a:schemeClr val="dk1"/>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cxnSp>
        <p:nvCxnSpPr>
          <p:cNvPr id="415" name="Google Shape;415;p56"/>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16" name="Google Shape;416;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Tracking cost</a:t>
            </a:r>
            <a:endParaRPr/>
          </a:p>
        </p:txBody>
      </p:sp>
      <p:sp>
        <p:nvSpPr>
          <p:cNvPr id="417" name="Google Shape;417;p56"/>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18" name="Google Shape;418;p56"/>
          <p:cNvSpPr txBox="1"/>
          <p:nvPr/>
        </p:nvSpPr>
        <p:spPr>
          <a:xfrm>
            <a:off x="304800" y="609600"/>
            <a:ext cx="8800200" cy="32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Each record has two fields:</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Char char="●"/>
            </a:pPr>
            <a:r>
              <a:rPr lang="en" sz="1600">
                <a:solidFill>
                  <a:schemeClr val="dk1"/>
                </a:solidFill>
                <a:latin typeface="Roboto"/>
                <a:ea typeface="Roboto"/>
                <a:cs typeface="Roboto"/>
                <a:sym typeface="Roboto"/>
              </a:rPr>
              <a:t>question: the question generated by the LLM</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document: the ID of the FAQ document that should answer the question</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0"/>
              </a:spcAft>
              <a:buNone/>
            </a:pPr>
            <a:r>
              <a:rPr lang="en" sz="1600">
                <a:solidFill>
                  <a:schemeClr val="dk1"/>
                </a:solidFill>
                <a:latin typeface="Roboto"/>
                <a:ea typeface="Roboto"/>
                <a:cs typeface="Roboto"/>
                <a:sym typeface="Roboto"/>
              </a:rPr>
              <a:t>The document field connects the generated question to the document that contains the answer. Later, when we evaluate search, we'll ask the search engine the generated question. Then we'll check if it retrieves the document with this ID.</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We now know how to generate and store questions for one document. In the next lesson, we'll run this for all LLM course FAQ documents and save the full ground truth dataset.</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sz="1600">
              <a:solidFill>
                <a:schemeClr val="dk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Generating Ground Truth for All Documents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Parallel processing</a:t>
            </a:r>
            <a:endParaRPr>
              <a:solidFill>
                <a:schemeClr val="dk2"/>
              </a:solidFill>
            </a:endParaRPr>
          </a:p>
        </p:txBody>
      </p:sp>
      <p:sp>
        <p:nvSpPr>
          <p:cNvPr id="424" name="Google Shape;424;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Generation Ground Truth</a:t>
            </a:r>
            <a:endParaRPr>
              <a:solidFill>
                <a:schemeClr val="accent3"/>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cxnSp>
        <p:nvCxnSpPr>
          <p:cNvPr id="430" name="Google Shape;430;p58"/>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31" name="Google Shape;431;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32" name="Google Shape;432;p5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33" name="Google Shape;433;p58"/>
          <p:cNvSpPr txBox="1"/>
          <p:nvPr/>
        </p:nvSpPr>
        <p:spPr>
          <a:xfrm>
            <a:off x="304800" y="609600"/>
            <a:ext cx="8800200" cy="187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In the previous lesson, we generated questions for one document and converted them into ground truth records.</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We want to do the same thing for every document in the FAQ dataset. For each document, we generate questions and save them as ground truth records.</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For this part, we'll use tqdm for progress bars and pandas for saving the final CSV.</a:t>
            </a:r>
            <a:endParaRPr sz="1600">
              <a:solidFill>
                <a:schemeClr val="dk1"/>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cxnSp>
        <p:nvCxnSpPr>
          <p:cNvPr id="438" name="Google Shape;438;p59"/>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39" name="Google Shape;439;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40" name="Google Shape;440;p5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41" name="Google Shape;441;p59"/>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If you don't have them installed yet, add them first:</a:t>
            </a:r>
            <a:endParaRPr sz="1600">
              <a:solidFill>
                <a:schemeClr val="dk1"/>
              </a:solidFill>
              <a:latin typeface="Roboto"/>
              <a:ea typeface="Roboto"/>
              <a:cs typeface="Roboto"/>
              <a:sym typeface="Roboto"/>
            </a:endParaRPr>
          </a:p>
        </p:txBody>
      </p:sp>
      <p:sp>
        <p:nvSpPr>
          <p:cNvPr id="442" name="Google Shape;442;p59"/>
          <p:cNvSpPr txBox="1"/>
          <p:nvPr/>
        </p:nvSpPr>
        <p:spPr>
          <a:xfrm>
            <a:off x="443975" y="1255300"/>
            <a:ext cx="8229000" cy="70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uv</a:t>
            </a:r>
            <a:r>
              <a:rPr lang="en" sz="1600">
                <a:solidFill>
                  <a:schemeClr val="accent3"/>
                </a:solidFill>
                <a:latin typeface="Consolas"/>
                <a:ea typeface="Consolas"/>
                <a:cs typeface="Consolas"/>
                <a:sym typeface="Consolas"/>
              </a:rPr>
              <a:t> add tqdm pandas </a:t>
            </a:r>
            <a:endParaRPr sz="1600">
              <a:solidFill>
                <a:schemeClr val="dk1"/>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cxnSp>
        <p:nvCxnSpPr>
          <p:cNvPr id="447" name="Google Shape;447;p60"/>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48" name="Google Shape;448;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49" name="Google Shape;449;p6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50" name="Google Shape;450;p60"/>
          <p:cNvSpPr txBox="1"/>
          <p:nvPr/>
        </p:nvSpPr>
        <p:spPr>
          <a:xfrm>
            <a:off x="304800" y="609600"/>
            <a:ext cx="8800200" cy="32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The processing function takes one document and turns it into ground truth records.</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For each document, we:</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Char char="●"/>
            </a:pPr>
            <a:r>
              <a:rPr lang="en" sz="1600">
                <a:solidFill>
                  <a:schemeClr val="dk1"/>
                </a:solidFill>
                <a:latin typeface="Roboto"/>
                <a:ea typeface="Roboto"/>
                <a:cs typeface="Roboto"/>
                <a:sym typeface="Roboto"/>
              </a:rPr>
              <a:t>convert the document to JSON so we can send it to the LLM</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Roboto"/>
                <a:ea typeface="Roboto"/>
                <a:cs typeface="Roboto"/>
                <a:sym typeface="Roboto"/>
              </a:rPr>
              <a:t>ask the LLM to return a Questions object</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create one ground truth record for each generated question</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0"/>
              </a:spcAft>
              <a:buNone/>
            </a:pPr>
            <a:r>
              <a:rPr lang="en" sz="1600">
                <a:solidFill>
                  <a:schemeClr val="dk1"/>
                </a:solidFill>
                <a:latin typeface="Roboto"/>
                <a:ea typeface="Roboto"/>
                <a:cs typeface="Roboto"/>
                <a:sym typeface="Roboto"/>
              </a:rPr>
              <a:t>Each record contains the generated question and the ID of the document that should answer the question.</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When we send many requests, one of them might fail. We don't want the entire batch to fail because of one temporary error.</a:t>
            </a:r>
            <a:endParaRPr sz="1600">
              <a:solidFill>
                <a:schemeClr val="dk1"/>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p6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56" name="Google Shape;456;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57" name="Google Shape;457;p6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58" name="Google Shape;458;p61"/>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Import the retry helper from </a:t>
            </a:r>
            <a:r>
              <a:rPr lang="en" sz="1600">
                <a:solidFill>
                  <a:schemeClr val="accent3"/>
                </a:solidFill>
                <a:latin typeface="Roboto"/>
                <a:ea typeface="Roboto"/>
                <a:cs typeface="Roboto"/>
                <a:sym typeface="Roboto"/>
              </a:rPr>
              <a:t>evaluation_utils.py</a:t>
            </a:r>
            <a:r>
              <a:rPr lang="en" sz="1600">
                <a:solidFill>
                  <a:schemeClr val="dk1"/>
                </a:solidFill>
                <a:latin typeface="Roboto"/>
                <a:ea typeface="Roboto"/>
                <a:cs typeface="Roboto"/>
                <a:sym typeface="Roboto"/>
              </a:rPr>
              <a:t>:</a:t>
            </a:r>
            <a:endParaRPr sz="1600">
              <a:solidFill>
                <a:schemeClr val="dk1"/>
              </a:solidFill>
              <a:latin typeface="Roboto"/>
              <a:ea typeface="Roboto"/>
              <a:cs typeface="Roboto"/>
              <a:sym typeface="Roboto"/>
            </a:endParaRPr>
          </a:p>
        </p:txBody>
      </p:sp>
      <p:sp>
        <p:nvSpPr>
          <p:cNvPr id="459" name="Google Shape;459;p61"/>
          <p:cNvSpPr txBox="1"/>
          <p:nvPr/>
        </p:nvSpPr>
        <p:spPr>
          <a:xfrm>
            <a:off x="443975" y="1255300"/>
            <a:ext cx="8229000" cy="70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Roboto"/>
                <a:ea typeface="Roboto"/>
                <a:cs typeface="Roboto"/>
                <a:sym typeface="Roboto"/>
              </a:rPr>
              <a:t>from</a:t>
            </a:r>
            <a:r>
              <a:rPr lang="en" sz="1600">
                <a:solidFill>
                  <a:schemeClr val="dk1"/>
                </a:solidFill>
                <a:latin typeface="Roboto"/>
                <a:ea typeface="Roboto"/>
                <a:cs typeface="Roboto"/>
                <a:sym typeface="Roboto"/>
              </a:rPr>
              <a:t> evaluation_utils </a:t>
            </a:r>
            <a:r>
              <a:rPr lang="en" sz="1600">
                <a:solidFill>
                  <a:schemeClr val="accent3"/>
                </a:solidFill>
                <a:latin typeface="Roboto"/>
                <a:ea typeface="Roboto"/>
                <a:cs typeface="Roboto"/>
                <a:sym typeface="Roboto"/>
              </a:rPr>
              <a:t>import</a:t>
            </a:r>
            <a:r>
              <a:rPr lang="en" sz="1600">
                <a:solidFill>
                  <a:schemeClr val="dk1"/>
                </a:solidFill>
                <a:latin typeface="Roboto"/>
                <a:ea typeface="Roboto"/>
                <a:cs typeface="Roboto"/>
                <a:sym typeface="Roboto"/>
              </a:rPr>
              <a:t> llm_structured_retry</a:t>
            </a:r>
            <a:endParaRPr sz="1600">
              <a:solidFill>
                <a:schemeClr val="dk1"/>
              </a:solidFill>
              <a:latin typeface="Roboto"/>
              <a:ea typeface="Roboto"/>
              <a:cs typeface="Roboto"/>
              <a:sym typeface="Roboto"/>
            </a:endParaRPr>
          </a:p>
        </p:txBody>
      </p:sp>
      <p:sp>
        <p:nvSpPr>
          <p:cNvPr id="460" name="Google Shape;460;p61"/>
          <p:cNvSpPr txBox="1"/>
          <p:nvPr/>
        </p:nvSpPr>
        <p:spPr>
          <a:xfrm>
            <a:off x="304800" y="2133600"/>
            <a:ext cx="88002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llm_structured makes one structured-output call. llm_structured_retry wraps the same call in a retry loop. If one request fails because of a temporary API or network issue, it waits briefly and tries again.</a:t>
            </a:r>
            <a:endParaRPr sz="1600">
              <a:solidFill>
                <a:schemeClr val="dk1"/>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cxnSp>
        <p:nvCxnSpPr>
          <p:cNvPr id="465" name="Google Shape;465;p6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66" name="Google Shape;466;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67" name="Google Shape;467;p6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68" name="Google Shape;468;p62"/>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Use it in the processing function:</a:t>
            </a:r>
            <a:endParaRPr sz="1600">
              <a:solidFill>
                <a:schemeClr val="dk1"/>
              </a:solidFill>
              <a:latin typeface="Roboto"/>
              <a:ea typeface="Roboto"/>
              <a:cs typeface="Roboto"/>
              <a:sym typeface="Roboto"/>
            </a:endParaRPr>
          </a:p>
        </p:txBody>
      </p:sp>
      <p:sp>
        <p:nvSpPr>
          <p:cNvPr id="469" name="Google Shape;469;p62"/>
          <p:cNvSpPr txBox="1"/>
          <p:nvPr/>
        </p:nvSpPr>
        <p:spPr>
          <a:xfrm>
            <a:off x="443975" y="1026700"/>
            <a:ext cx="8229000" cy="3820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100">
                <a:solidFill>
                  <a:schemeClr val="accent2"/>
                </a:solidFill>
                <a:latin typeface="Consolas"/>
                <a:ea typeface="Consolas"/>
                <a:cs typeface="Consolas"/>
                <a:sym typeface="Consolas"/>
              </a:rPr>
              <a:t>def</a:t>
            </a:r>
            <a:r>
              <a:rPr lang="en" sz="1100">
                <a:solidFill>
                  <a:schemeClr val="dk1"/>
                </a:solidFill>
                <a:latin typeface="Consolas"/>
                <a:ea typeface="Consolas"/>
                <a:cs typeface="Consolas"/>
                <a:sym typeface="Consolas"/>
              </a:rPr>
              <a:t> generate_ground_truth(doc):</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user_prompt = json.</a:t>
            </a:r>
            <a:r>
              <a:rPr lang="en" sz="1100">
                <a:solidFill>
                  <a:schemeClr val="accent3"/>
                </a:solidFill>
                <a:latin typeface="Consolas"/>
                <a:ea typeface="Consolas"/>
                <a:cs typeface="Consolas"/>
                <a:sym typeface="Consolas"/>
              </a:rPr>
              <a:t>dumps</a:t>
            </a:r>
            <a:r>
              <a:rPr lang="en" sz="1100">
                <a:solidFill>
                  <a:schemeClr val="dk1"/>
                </a:solidFill>
                <a:latin typeface="Consolas"/>
                <a:ea typeface="Consolas"/>
                <a:cs typeface="Consolas"/>
                <a:sym typeface="Consolas"/>
              </a:rPr>
              <a:t>(doc)</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out, usage = llm_structured_retry(</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openai_client</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data_gen_instructions</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user_prompt</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Questions</a:t>
            </a:r>
            <a:endParaRPr sz="11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results =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for q </a:t>
            </a:r>
            <a:r>
              <a:rPr lang="en" sz="1100">
                <a:solidFill>
                  <a:schemeClr val="accent2"/>
                </a:solidFill>
                <a:latin typeface="Consolas"/>
                <a:ea typeface="Consolas"/>
                <a:cs typeface="Consolas"/>
                <a:sym typeface="Consolas"/>
              </a:rPr>
              <a:t>in</a:t>
            </a:r>
            <a:r>
              <a:rPr lang="en" sz="1100">
                <a:solidFill>
                  <a:schemeClr val="dk1"/>
                </a:solidFill>
                <a:latin typeface="Consolas"/>
                <a:ea typeface="Consolas"/>
                <a:cs typeface="Consolas"/>
                <a:sym typeface="Consolas"/>
              </a:rPr>
              <a:t> out.</a:t>
            </a:r>
            <a:r>
              <a:rPr lang="en" sz="1100">
                <a:solidFill>
                  <a:schemeClr val="accent3"/>
                </a:solidFill>
                <a:latin typeface="Consolas"/>
                <a:ea typeface="Consolas"/>
                <a:cs typeface="Consolas"/>
                <a:sym typeface="Consolas"/>
              </a:rPr>
              <a:t>questions</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results.</a:t>
            </a:r>
            <a:r>
              <a:rPr lang="en" sz="1100">
                <a:solidFill>
                  <a:schemeClr val="accent3"/>
                </a:solidFill>
                <a:latin typeface="Consolas"/>
                <a:ea typeface="Consolas"/>
                <a:cs typeface="Consolas"/>
                <a:sym typeface="Consolas"/>
              </a:rPr>
              <a:t>append</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"question"</a:t>
            </a:r>
            <a:r>
              <a:rPr lang="en" sz="1100">
                <a:solidFill>
                  <a:schemeClr val="dk1"/>
                </a:solidFill>
                <a:latin typeface="Consolas"/>
                <a:ea typeface="Consolas"/>
                <a:cs typeface="Consolas"/>
                <a:sym typeface="Consolas"/>
              </a:rPr>
              <a:t>: q,</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3"/>
                </a:solidFill>
                <a:latin typeface="Consolas"/>
                <a:ea typeface="Consolas"/>
                <a:cs typeface="Consolas"/>
                <a:sym typeface="Consolas"/>
              </a:rPr>
              <a:t>"document"</a:t>
            </a:r>
            <a:r>
              <a:rPr lang="en" sz="1100">
                <a:solidFill>
                  <a:schemeClr val="dk1"/>
                </a:solidFill>
                <a:latin typeface="Consolas"/>
                <a:ea typeface="Consolas"/>
                <a:cs typeface="Consolas"/>
                <a:sym typeface="Consolas"/>
              </a:rPr>
              <a:t>: doc[</a:t>
            </a:r>
            <a:r>
              <a:rPr lang="en" sz="1100">
                <a:solidFill>
                  <a:schemeClr val="accent3"/>
                </a:solidFill>
                <a:latin typeface="Consolas"/>
                <a:ea typeface="Consolas"/>
                <a:cs typeface="Consolas"/>
                <a:sym typeface="Consolas"/>
              </a:rPr>
              <a:t>"id"</a:t>
            </a:r>
            <a:r>
              <a:rPr lang="en"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1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100">
                <a:solidFill>
                  <a:schemeClr val="dk1"/>
                </a:solidFill>
                <a:latin typeface="Consolas"/>
                <a:ea typeface="Consolas"/>
                <a:cs typeface="Consolas"/>
                <a:sym typeface="Consolas"/>
              </a:rPr>
              <a:t>    </a:t>
            </a:r>
            <a:r>
              <a:rPr lang="en" sz="1100">
                <a:solidFill>
                  <a:schemeClr val="accent2"/>
                </a:solidFill>
                <a:latin typeface="Consolas"/>
                <a:ea typeface="Consolas"/>
                <a:cs typeface="Consolas"/>
                <a:sym typeface="Consolas"/>
              </a:rPr>
              <a:t>return</a:t>
            </a:r>
            <a:r>
              <a:rPr lang="en" sz="1100">
                <a:solidFill>
                  <a:schemeClr val="dk1"/>
                </a:solidFill>
                <a:latin typeface="Consolas"/>
                <a:ea typeface="Consolas"/>
                <a:cs typeface="Consolas"/>
                <a:sym typeface="Consolas"/>
              </a:rPr>
              <a:t> results, usage</a:t>
            </a:r>
            <a:endParaRPr sz="1100">
              <a:solidFill>
                <a:schemeClr val="dk1"/>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cxnSp>
        <p:nvCxnSpPr>
          <p:cNvPr id="474" name="Google Shape;474;p63"/>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75" name="Google Shape;475;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Generating Ground Truth for All Documents</a:t>
            </a:r>
            <a:endParaRPr/>
          </a:p>
        </p:txBody>
      </p:sp>
      <p:sp>
        <p:nvSpPr>
          <p:cNvPr id="476" name="Google Shape;476;p6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77" name="Google Shape;477;p63"/>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Import tqdm and run the loop:</a:t>
            </a:r>
            <a:endParaRPr sz="1600">
              <a:solidFill>
                <a:schemeClr val="dk1"/>
              </a:solidFill>
              <a:latin typeface="Roboto"/>
              <a:ea typeface="Roboto"/>
              <a:cs typeface="Roboto"/>
              <a:sym typeface="Roboto"/>
            </a:endParaRPr>
          </a:p>
        </p:txBody>
      </p:sp>
      <p:sp>
        <p:nvSpPr>
          <p:cNvPr id="478" name="Google Shape;478;p63"/>
          <p:cNvSpPr txBox="1"/>
          <p:nvPr/>
        </p:nvSpPr>
        <p:spPr>
          <a:xfrm>
            <a:off x="443975" y="1102900"/>
            <a:ext cx="8229000" cy="2755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from</a:t>
            </a:r>
            <a:r>
              <a:rPr lang="en" sz="1600">
                <a:solidFill>
                  <a:schemeClr val="dk1"/>
                </a:solidFill>
                <a:latin typeface="Consolas"/>
                <a:ea typeface="Consolas"/>
                <a:cs typeface="Consolas"/>
                <a:sym typeface="Consolas"/>
              </a:rPr>
              <a:t> tqdm.</a:t>
            </a:r>
            <a:r>
              <a:rPr lang="en" sz="1600">
                <a:solidFill>
                  <a:schemeClr val="accent3"/>
                </a:solidFill>
                <a:latin typeface="Consolas"/>
                <a:ea typeface="Consolas"/>
                <a:cs typeface="Consolas"/>
                <a:sym typeface="Consolas"/>
              </a:rPr>
              <a:t>auto</a:t>
            </a:r>
            <a:r>
              <a:rPr lang="en" sz="1600">
                <a:solidFill>
                  <a:schemeClr val="dk1"/>
                </a:solidFill>
                <a:latin typeface="Consolas"/>
                <a:ea typeface="Consolas"/>
                <a:cs typeface="Consolas"/>
                <a:sym typeface="Consolas"/>
              </a:rPr>
              <a:t>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tqdm</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ground_truth =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usages =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for</a:t>
            </a:r>
            <a:r>
              <a:rPr lang="en" sz="1600">
                <a:solidFill>
                  <a:schemeClr val="dk1"/>
                </a:solidFill>
                <a:latin typeface="Consolas"/>
                <a:ea typeface="Consolas"/>
                <a:cs typeface="Consolas"/>
                <a:sym typeface="Consolas"/>
              </a:rPr>
              <a:t> doc </a:t>
            </a:r>
            <a:r>
              <a:rPr lang="en" sz="1600">
                <a:solidFill>
                  <a:schemeClr val="accent2"/>
                </a:solidFill>
                <a:latin typeface="Consolas"/>
                <a:ea typeface="Consolas"/>
                <a:cs typeface="Consolas"/>
                <a:sym typeface="Consolas"/>
              </a:rPr>
              <a:t>in</a:t>
            </a:r>
            <a:r>
              <a:rPr lang="en" sz="1600">
                <a:solidFill>
                  <a:schemeClr val="dk1"/>
                </a:solidFill>
                <a:latin typeface="Consolas"/>
                <a:ea typeface="Consolas"/>
                <a:cs typeface="Consolas"/>
                <a:sym typeface="Consolas"/>
              </a:rPr>
              <a:t> tqdm(documents[:5]):</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records, usage = </a:t>
            </a:r>
            <a:r>
              <a:rPr lang="en" sz="1600">
                <a:solidFill>
                  <a:schemeClr val="accent3"/>
                </a:solidFill>
                <a:latin typeface="Consolas"/>
                <a:ea typeface="Consolas"/>
                <a:cs typeface="Consolas"/>
                <a:sym typeface="Consolas"/>
              </a:rPr>
              <a:t>generate_ground_truth</a:t>
            </a:r>
            <a:r>
              <a:rPr lang="en" sz="1600">
                <a:solidFill>
                  <a:schemeClr val="dk1"/>
                </a:solidFill>
                <a:latin typeface="Consolas"/>
                <a:ea typeface="Consolas"/>
                <a:cs typeface="Consolas"/>
                <a:sym typeface="Consolas"/>
              </a:rPr>
              <a:t>(doc)</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ground_truth.</a:t>
            </a:r>
            <a:r>
              <a:rPr lang="en" sz="1600">
                <a:solidFill>
                  <a:schemeClr val="accent3"/>
                </a:solidFill>
                <a:latin typeface="Consolas"/>
                <a:ea typeface="Consolas"/>
                <a:cs typeface="Consolas"/>
                <a:sym typeface="Consolas"/>
              </a:rPr>
              <a:t>extend</a:t>
            </a:r>
            <a:r>
              <a:rPr lang="en" sz="1600">
                <a:solidFill>
                  <a:schemeClr val="dk1"/>
                </a:solidFill>
                <a:latin typeface="Consolas"/>
                <a:ea typeface="Consolas"/>
                <a:cs typeface="Consolas"/>
                <a:sym typeface="Consolas"/>
              </a:rPr>
              <a:t>(records)</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    usages.</a:t>
            </a:r>
            <a:r>
              <a:rPr lang="en" sz="1600">
                <a:solidFill>
                  <a:schemeClr val="accent3"/>
                </a:solidFill>
                <a:latin typeface="Consolas"/>
                <a:ea typeface="Consolas"/>
                <a:cs typeface="Consolas"/>
                <a:sym typeface="Consolas"/>
              </a:rPr>
              <a:t>append</a:t>
            </a:r>
            <a:r>
              <a:rPr lang="en" sz="1600">
                <a:solidFill>
                  <a:schemeClr val="dk1"/>
                </a:solidFill>
                <a:latin typeface="Consolas"/>
                <a:ea typeface="Consolas"/>
                <a:cs typeface="Consolas"/>
                <a:sym typeface="Consolas"/>
              </a:rPr>
              <a:t>(usage)</a:t>
            </a:r>
            <a:endParaRPr sz="1600">
              <a:solidFill>
                <a:schemeClr val="dk1"/>
              </a:solidFill>
              <a:latin typeface="Consolas"/>
              <a:ea typeface="Consolas"/>
              <a:cs typeface="Consolas"/>
              <a:sym typeface="Consolas"/>
            </a:endParaRPr>
          </a:p>
          <a:p>
            <a:pPr indent="0" lvl="0" marL="15240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t/>
            </a:r>
            <a:endParaRPr sz="1600">
              <a:solidFill>
                <a:schemeClr val="dk1"/>
              </a:solidFill>
              <a:latin typeface="Consolas"/>
              <a:ea typeface="Consolas"/>
              <a:cs typeface="Consolas"/>
              <a:sym typeface="Consolas"/>
            </a:endParaRPr>
          </a:p>
        </p:txBody>
      </p:sp>
      <p:sp>
        <p:nvSpPr>
          <p:cNvPr id="479" name="Google Shape;479;p63"/>
          <p:cNvSpPr txBox="1"/>
          <p:nvPr/>
        </p:nvSpPr>
        <p:spPr>
          <a:xfrm>
            <a:off x="228600" y="4038600"/>
            <a:ext cx="87417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This works, but it runs one LLM call after another. Running it for all documents this way would take too long.</a:t>
            </a:r>
            <a:endParaRPr sz="1600">
              <a:solidFill>
                <a:schemeClr val="dk1"/>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4"/>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Intro</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evaluation 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Data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Loading the documents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questions with structured output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Reusable utilities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Tracking cost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Generating Ground Truth for All Documents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Parallel processing</a:t>
            </a:r>
            <a:endParaRPr b="1">
              <a:solidFill>
                <a:schemeClr val="accent3"/>
              </a:solidFill>
              <a:latin typeface="Roboto"/>
              <a:ea typeface="Roboto"/>
              <a:cs typeface="Roboto"/>
              <a:sym typeface="Roboto"/>
            </a:endParaRPr>
          </a:p>
        </p:txBody>
      </p:sp>
      <p:sp>
        <p:nvSpPr>
          <p:cNvPr id="485" name="Google Shape;485;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64"/>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solidFill>
                <a:schemeClr val="accent3"/>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cxnSp>
        <p:nvCxnSpPr>
          <p:cNvPr id="491" name="Google Shape;491;p65"/>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492" name="Google Shape;492;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493" name="Google Shape;493;p6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494" name="Google Shape;494;p65"/>
          <p:cNvSpPr txBox="1"/>
          <p:nvPr/>
        </p:nvSpPr>
        <p:spPr>
          <a:xfrm>
            <a:off x="304800" y="609600"/>
            <a:ext cx="8800200" cy="215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Running the calls one after another wastes most of the time waiting on the network. Each request just sits there until OpenAI responds, so we can fire several at once and wait on them together. We process the documents in parallel and track progress while the requests run.</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One caution: don't open too many connections at once, or you'll hit the provider's rate limits. Five or six workers is a safe default here.</a:t>
            </a:r>
            <a:endParaRPr sz="1600">
              <a:solidFill>
                <a:schemeClr val="dk1"/>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cxnSp>
        <p:nvCxnSpPr>
          <p:cNvPr id="499" name="Google Shape;499;p66"/>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00" name="Google Shape;500;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01" name="Google Shape;501;p66"/>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02" name="Google Shape;502;p66"/>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Import ThreadPoolExecutor:</a:t>
            </a:r>
            <a:endParaRPr sz="1600">
              <a:solidFill>
                <a:schemeClr val="dk1"/>
              </a:solidFill>
              <a:latin typeface="Roboto"/>
              <a:ea typeface="Roboto"/>
              <a:cs typeface="Roboto"/>
              <a:sym typeface="Roboto"/>
            </a:endParaRPr>
          </a:p>
        </p:txBody>
      </p:sp>
      <p:sp>
        <p:nvSpPr>
          <p:cNvPr id="503" name="Google Shape;503;p66"/>
          <p:cNvSpPr txBox="1"/>
          <p:nvPr/>
        </p:nvSpPr>
        <p:spPr>
          <a:xfrm>
            <a:off x="443975" y="1102900"/>
            <a:ext cx="8229000" cy="95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from</a:t>
            </a:r>
            <a:r>
              <a:rPr lang="en" sz="1600">
                <a:solidFill>
                  <a:schemeClr val="dk1"/>
                </a:solidFill>
                <a:latin typeface="Consolas"/>
                <a:ea typeface="Consolas"/>
                <a:cs typeface="Consolas"/>
                <a:sym typeface="Consolas"/>
              </a:rPr>
              <a:t> concurrent.</a:t>
            </a:r>
            <a:r>
              <a:rPr lang="en" sz="1600">
                <a:solidFill>
                  <a:schemeClr val="accent3"/>
                </a:solidFill>
                <a:latin typeface="Consolas"/>
                <a:ea typeface="Consolas"/>
                <a:cs typeface="Consolas"/>
                <a:sym typeface="Consolas"/>
              </a:rPr>
              <a:t>futures</a:t>
            </a:r>
            <a:r>
              <a:rPr lang="en" sz="1600">
                <a:solidFill>
                  <a:schemeClr val="dk1"/>
                </a:solidFill>
                <a:latin typeface="Consolas"/>
                <a:ea typeface="Consolas"/>
                <a:cs typeface="Consolas"/>
                <a:sym typeface="Consolas"/>
              </a:rPr>
              <a:t>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ThreadPoolExecutor</a:t>
            </a:r>
            <a:endParaRPr sz="1600">
              <a:solidFill>
                <a:schemeClr val="accent3"/>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from</a:t>
            </a:r>
            <a:r>
              <a:rPr lang="en" sz="1600">
                <a:solidFill>
                  <a:schemeClr val="dk1"/>
                </a:solidFill>
                <a:latin typeface="Consolas"/>
                <a:ea typeface="Consolas"/>
                <a:cs typeface="Consolas"/>
                <a:sym typeface="Consolas"/>
              </a:rPr>
              <a:t> evaluation_utils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map_progress</a:t>
            </a:r>
            <a:endParaRPr sz="1600">
              <a:solidFill>
                <a:schemeClr val="accent3"/>
              </a:solidFill>
              <a:latin typeface="Consolas"/>
              <a:ea typeface="Consolas"/>
              <a:cs typeface="Consolas"/>
              <a:sym typeface="Consolas"/>
            </a:endParaRPr>
          </a:p>
        </p:txBody>
      </p:sp>
      <p:sp>
        <p:nvSpPr>
          <p:cNvPr id="504" name="Google Shape;504;p66"/>
          <p:cNvSpPr txBox="1"/>
          <p:nvPr/>
        </p:nvSpPr>
        <p:spPr>
          <a:xfrm>
            <a:off x="381000" y="2286000"/>
            <a:ext cx="85641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This submits one job per document, updates the progress bar when a job finishes, and collects the results. If you want a more detailed explanation of ThreadPoolExecutor and futures, ask ChatGPT to walk through this helper line by line.</a:t>
            </a:r>
            <a:endParaRPr sz="1600">
              <a:solidFill>
                <a:schemeClr val="dk1"/>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cxnSp>
        <p:nvCxnSpPr>
          <p:cNvPr id="509" name="Google Shape;509;p67"/>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10" name="Google Shape;510;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11" name="Google Shape;511;p67"/>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12" name="Google Shape;512;p67"/>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Then replace the loop with the parallel version:</a:t>
            </a:r>
            <a:endParaRPr sz="1600">
              <a:solidFill>
                <a:schemeClr val="dk1"/>
              </a:solidFill>
              <a:latin typeface="Roboto"/>
              <a:ea typeface="Roboto"/>
              <a:cs typeface="Roboto"/>
              <a:sym typeface="Roboto"/>
            </a:endParaRPr>
          </a:p>
        </p:txBody>
      </p:sp>
      <p:sp>
        <p:nvSpPr>
          <p:cNvPr id="513" name="Google Shape;513;p67"/>
          <p:cNvSpPr txBox="1"/>
          <p:nvPr/>
        </p:nvSpPr>
        <p:spPr>
          <a:xfrm>
            <a:off x="443975" y="1102900"/>
            <a:ext cx="8229000" cy="95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with</a:t>
            </a:r>
            <a:r>
              <a:rPr lang="en" sz="1600">
                <a:solidFill>
                  <a:schemeClr val="dk1"/>
                </a:solidFill>
                <a:latin typeface="Consolas"/>
                <a:ea typeface="Consolas"/>
                <a:cs typeface="Consolas"/>
                <a:sym typeface="Consolas"/>
              </a:rPr>
              <a:t> ThreadPoolExecutor(max_workers=6) as </a:t>
            </a:r>
            <a:r>
              <a:rPr lang="en" sz="1600">
                <a:solidFill>
                  <a:schemeClr val="accent3"/>
                </a:solidFill>
                <a:latin typeface="Consolas"/>
                <a:ea typeface="Consolas"/>
                <a:cs typeface="Consolas"/>
                <a:sym typeface="Consolas"/>
              </a:rPr>
              <a:t>pool</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results</a:t>
            </a:r>
            <a:r>
              <a:rPr lang="en" sz="1600">
                <a:solidFill>
                  <a:schemeClr val="dk1"/>
                </a:solidFill>
                <a:latin typeface="Consolas"/>
                <a:ea typeface="Consolas"/>
                <a:cs typeface="Consolas"/>
                <a:sym typeface="Consolas"/>
              </a:rPr>
              <a:t> = </a:t>
            </a:r>
            <a:r>
              <a:rPr lang="en" sz="1600">
                <a:solidFill>
                  <a:schemeClr val="accent3"/>
                </a:solidFill>
                <a:latin typeface="Consolas"/>
                <a:ea typeface="Consolas"/>
                <a:cs typeface="Consolas"/>
                <a:sym typeface="Consolas"/>
              </a:rPr>
              <a:t>map_progress</a:t>
            </a:r>
            <a:r>
              <a:rPr lang="en" sz="1600">
                <a:solidFill>
                  <a:schemeClr val="dk1"/>
                </a:solidFill>
                <a:latin typeface="Consolas"/>
                <a:ea typeface="Consolas"/>
                <a:cs typeface="Consolas"/>
                <a:sym typeface="Consolas"/>
              </a:rPr>
              <a:t>(pool, documents, generate_ground_truth)</a:t>
            </a:r>
            <a:endParaRPr sz="1600">
              <a:solidFill>
                <a:schemeClr val="dk1"/>
              </a:solidFill>
              <a:latin typeface="Consolas"/>
              <a:ea typeface="Consolas"/>
              <a:cs typeface="Consolas"/>
              <a:sym typeface="Consolas"/>
            </a:endParaRPr>
          </a:p>
        </p:txBody>
      </p:sp>
      <p:sp>
        <p:nvSpPr>
          <p:cNvPr id="514" name="Google Shape;514;p67"/>
          <p:cNvSpPr txBox="1"/>
          <p:nvPr/>
        </p:nvSpPr>
        <p:spPr>
          <a:xfrm>
            <a:off x="381000" y="2286000"/>
            <a:ext cx="85641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accent3"/>
                </a:solidFill>
                <a:latin typeface="Roboto"/>
                <a:ea typeface="Roboto"/>
                <a:cs typeface="Roboto"/>
                <a:sym typeface="Roboto"/>
              </a:rPr>
              <a:t>generate_ground_truth</a:t>
            </a:r>
            <a:r>
              <a:rPr lang="en" sz="1600">
                <a:solidFill>
                  <a:schemeClr val="dk1"/>
                </a:solidFill>
                <a:latin typeface="Roboto"/>
                <a:ea typeface="Roboto"/>
                <a:cs typeface="Roboto"/>
                <a:sym typeface="Roboto"/>
              </a:rPr>
              <a:t> returns two things for each document: the generated records and the token usage.</a:t>
            </a:r>
            <a:endParaRPr sz="1600">
              <a:solidFill>
                <a:schemeClr val="dk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cxnSp>
        <p:nvCxnSpPr>
          <p:cNvPr id="519" name="Google Shape;519;p68"/>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20" name="Google Shape;520;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21" name="Google Shape;521;p6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22" name="Google Shape;522;p68"/>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Split those into separate lists:</a:t>
            </a:r>
            <a:endParaRPr sz="1600">
              <a:solidFill>
                <a:schemeClr val="dk1"/>
              </a:solidFill>
              <a:latin typeface="Roboto"/>
              <a:ea typeface="Roboto"/>
              <a:cs typeface="Roboto"/>
              <a:sym typeface="Roboto"/>
            </a:endParaRPr>
          </a:p>
        </p:txBody>
      </p:sp>
      <p:sp>
        <p:nvSpPr>
          <p:cNvPr id="523" name="Google Shape;523;p68"/>
          <p:cNvSpPr txBox="1"/>
          <p:nvPr/>
        </p:nvSpPr>
        <p:spPr>
          <a:xfrm>
            <a:off x="443975" y="1102900"/>
            <a:ext cx="8229000" cy="2143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ground_truth = []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usages = []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for</a:t>
            </a:r>
            <a:r>
              <a:rPr lang="en" sz="1600">
                <a:solidFill>
                  <a:schemeClr val="dk1"/>
                </a:solidFill>
                <a:latin typeface="Consolas"/>
                <a:ea typeface="Consolas"/>
                <a:cs typeface="Consolas"/>
                <a:sym typeface="Consolas"/>
              </a:rPr>
              <a:t> records, usage </a:t>
            </a:r>
            <a:r>
              <a:rPr lang="en" sz="1600">
                <a:solidFill>
                  <a:schemeClr val="accent2"/>
                </a:solidFill>
                <a:latin typeface="Consolas"/>
                <a:ea typeface="Consolas"/>
                <a:cs typeface="Consolas"/>
                <a:sym typeface="Consolas"/>
              </a:rPr>
              <a:t>in</a:t>
            </a:r>
            <a:r>
              <a:rPr lang="en" sz="1600">
                <a:solidFill>
                  <a:schemeClr val="dk1"/>
                </a:solidFill>
                <a:latin typeface="Consolas"/>
                <a:ea typeface="Consolas"/>
                <a:cs typeface="Consolas"/>
                <a:sym typeface="Consolas"/>
              </a:rPr>
              <a:t> results: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ground_truth.</a:t>
            </a:r>
            <a:r>
              <a:rPr lang="en" sz="1600">
                <a:solidFill>
                  <a:schemeClr val="accent3"/>
                </a:solidFill>
                <a:latin typeface="Consolas"/>
                <a:ea typeface="Consolas"/>
                <a:cs typeface="Consolas"/>
                <a:sym typeface="Consolas"/>
              </a:rPr>
              <a:t>extend</a:t>
            </a:r>
            <a:r>
              <a:rPr lang="en" sz="1600">
                <a:solidFill>
                  <a:schemeClr val="dk1"/>
                </a:solidFill>
                <a:latin typeface="Consolas"/>
                <a:ea typeface="Consolas"/>
                <a:cs typeface="Consolas"/>
                <a:sym typeface="Consolas"/>
              </a:rPr>
              <a:t>(records)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usages.</a:t>
            </a:r>
            <a:r>
              <a:rPr lang="en" sz="1600">
                <a:solidFill>
                  <a:schemeClr val="accent3"/>
                </a:solidFill>
                <a:latin typeface="Consolas"/>
                <a:ea typeface="Consolas"/>
                <a:cs typeface="Consolas"/>
                <a:sym typeface="Consolas"/>
              </a:rPr>
              <a:t>append</a:t>
            </a:r>
            <a:r>
              <a:rPr lang="en" sz="1600">
                <a:solidFill>
                  <a:schemeClr val="dk1"/>
                </a:solidFill>
                <a:latin typeface="Consolas"/>
                <a:ea typeface="Consolas"/>
                <a:cs typeface="Consolas"/>
                <a:sym typeface="Consolas"/>
              </a:rPr>
              <a:t>(usage)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len</a:t>
            </a:r>
            <a:r>
              <a:rPr lang="en" sz="1600">
                <a:solidFill>
                  <a:schemeClr val="dk1"/>
                </a:solidFill>
                <a:latin typeface="Consolas"/>
                <a:ea typeface="Consolas"/>
                <a:cs typeface="Consolas"/>
                <a:sym typeface="Consolas"/>
              </a:rPr>
              <a:t>(ground_truth)</a:t>
            </a:r>
            <a:endParaRPr sz="1600">
              <a:solidFill>
                <a:schemeClr val="dk1"/>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cxnSp>
        <p:nvCxnSpPr>
          <p:cNvPr id="528" name="Google Shape;528;p69"/>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29" name="Google Shape;529;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30" name="Google Shape;530;p6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31" name="Google Shape;531;p69"/>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Calculate the total cost:</a:t>
            </a:r>
            <a:endParaRPr sz="1600">
              <a:solidFill>
                <a:schemeClr val="dk1"/>
              </a:solidFill>
              <a:latin typeface="Roboto"/>
              <a:ea typeface="Roboto"/>
              <a:cs typeface="Roboto"/>
              <a:sym typeface="Roboto"/>
            </a:endParaRPr>
          </a:p>
        </p:txBody>
      </p:sp>
      <p:sp>
        <p:nvSpPr>
          <p:cNvPr id="532" name="Google Shape;532;p69"/>
          <p:cNvSpPr txBox="1"/>
          <p:nvPr/>
        </p:nvSpPr>
        <p:spPr>
          <a:xfrm>
            <a:off x="443975" y="1102900"/>
            <a:ext cx="8229000" cy="2143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from</a:t>
            </a:r>
            <a:r>
              <a:rPr lang="en" sz="1600">
                <a:solidFill>
                  <a:schemeClr val="dk1"/>
                </a:solidFill>
                <a:latin typeface="Consolas"/>
                <a:ea typeface="Consolas"/>
                <a:cs typeface="Consolas"/>
                <a:sym typeface="Consolas"/>
              </a:rPr>
              <a:t> evaluation_utils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calc_price</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total_cost = 0.0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for</a:t>
            </a:r>
            <a:r>
              <a:rPr lang="en" sz="1600">
                <a:solidFill>
                  <a:schemeClr val="dk1"/>
                </a:solidFill>
                <a:latin typeface="Consolas"/>
                <a:ea typeface="Consolas"/>
                <a:cs typeface="Consolas"/>
                <a:sym typeface="Consolas"/>
              </a:rPr>
              <a:t> usage </a:t>
            </a:r>
            <a:r>
              <a:rPr lang="en" sz="1600">
                <a:solidFill>
                  <a:schemeClr val="accent2"/>
                </a:solidFill>
                <a:latin typeface="Consolas"/>
                <a:ea typeface="Consolas"/>
                <a:cs typeface="Consolas"/>
                <a:sym typeface="Consolas"/>
              </a:rPr>
              <a:t>in</a:t>
            </a:r>
            <a:r>
              <a:rPr lang="en" sz="1600">
                <a:solidFill>
                  <a:schemeClr val="dk1"/>
                </a:solidFill>
                <a:latin typeface="Consolas"/>
                <a:ea typeface="Consolas"/>
                <a:cs typeface="Consolas"/>
                <a:sym typeface="Consolas"/>
              </a:rPr>
              <a:t> usages: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cost = </a:t>
            </a:r>
            <a:r>
              <a:rPr lang="en" sz="1600">
                <a:solidFill>
                  <a:schemeClr val="accent3"/>
                </a:solidFill>
                <a:latin typeface="Consolas"/>
                <a:ea typeface="Consolas"/>
                <a:cs typeface="Consolas"/>
                <a:sym typeface="Consolas"/>
              </a:rPr>
              <a:t>calc_price</a:t>
            </a:r>
            <a:r>
              <a:rPr lang="en" sz="1600">
                <a:solidFill>
                  <a:schemeClr val="dk1"/>
                </a:solidFill>
                <a:latin typeface="Consolas"/>
                <a:ea typeface="Consolas"/>
                <a:cs typeface="Consolas"/>
                <a:sym typeface="Consolas"/>
              </a:rPr>
              <a:t>(usage) </a:t>
            </a:r>
            <a:endParaRPr sz="1600">
              <a:solidFill>
                <a:schemeClr val="dk1"/>
              </a:solidFill>
              <a:latin typeface="Consolas"/>
              <a:ea typeface="Consolas"/>
              <a:cs typeface="Consolas"/>
              <a:sym typeface="Consolas"/>
            </a:endParaRPr>
          </a:p>
          <a:p>
            <a:pPr indent="45720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total_cost = </a:t>
            </a:r>
            <a:r>
              <a:rPr lang="en" sz="1600">
                <a:solidFill>
                  <a:schemeClr val="accent3"/>
                </a:solidFill>
                <a:latin typeface="Consolas"/>
                <a:ea typeface="Consolas"/>
                <a:cs typeface="Consolas"/>
                <a:sym typeface="Consolas"/>
              </a:rPr>
              <a:t>total_cost</a:t>
            </a:r>
            <a:r>
              <a:rPr lang="en" sz="1600">
                <a:solidFill>
                  <a:schemeClr val="dk1"/>
                </a:solidFill>
                <a:latin typeface="Consolas"/>
                <a:ea typeface="Consolas"/>
                <a:cs typeface="Consolas"/>
                <a:sym typeface="Consolas"/>
              </a:rPr>
              <a:t> + cost[</a:t>
            </a:r>
            <a:r>
              <a:rPr lang="en" sz="1600">
                <a:solidFill>
                  <a:schemeClr val="accent3"/>
                </a:solidFill>
                <a:latin typeface="Consolas"/>
                <a:ea typeface="Consolas"/>
                <a:cs typeface="Consolas"/>
                <a:sym typeface="Consolas"/>
              </a:rPr>
              <a:t>"total_cost"</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accent3"/>
                </a:solidFill>
                <a:latin typeface="Consolas"/>
                <a:ea typeface="Consolas"/>
                <a:cs typeface="Consolas"/>
                <a:sym typeface="Consolas"/>
              </a:rPr>
              <a:t>total_cost</a:t>
            </a:r>
            <a:endParaRPr sz="1600">
              <a:solidFill>
                <a:schemeClr val="accent3"/>
              </a:solidFill>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cxnSp>
        <p:nvCxnSpPr>
          <p:cNvPr id="537" name="Google Shape;537;p70"/>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38" name="Google Shape;538;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39" name="Google Shape;539;p7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40" name="Google Shape;540;p70"/>
          <p:cNvSpPr txBox="1"/>
          <p:nvPr/>
        </p:nvSpPr>
        <p:spPr>
          <a:xfrm>
            <a:off x="304800" y="609600"/>
            <a:ext cx="8800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We'll calculate total cost several times in this module, so the utility file has a helper for it:</a:t>
            </a:r>
            <a:endParaRPr sz="1600">
              <a:solidFill>
                <a:schemeClr val="dk1"/>
              </a:solidFill>
              <a:latin typeface="Roboto"/>
              <a:ea typeface="Roboto"/>
              <a:cs typeface="Roboto"/>
              <a:sym typeface="Roboto"/>
            </a:endParaRPr>
          </a:p>
        </p:txBody>
      </p:sp>
      <p:sp>
        <p:nvSpPr>
          <p:cNvPr id="541" name="Google Shape;541;p70"/>
          <p:cNvSpPr txBox="1"/>
          <p:nvPr/>
        </p:nvSpPr>
        <p:spPr>
          <a:xfrm>
            <a:off x="443975" y="1102900"/>
            <a:ext cx="8229000" cy="98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from</a:t>
            </a:r>
            <a:r>
              <a:rPr lang="en" sz="1600">
                <a:solidFill>
                  <a:schemeClr val="dk1"/>
                </a:solidFill>
                <a:latin typeface="Consolas"/>
                <a:ea typeface="Consolas"/>
                <a:cs typeface="Consolas"/>
                <a:sym typeface="Consolas"/>
              </a:rPr>
              <a:t> evaluation_utils </a:t>
            </a: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a:t>
            </a:r>
            <a:r>
              <a:rPr lang="en" sz="1600">
                <a:solidFill>
                  <a:schemeClr val="accent3"/>
                </a:solidFill>
                <a:latin typeface="Consolas"/>
                <a:ea typeface="Consolas"/>
                <a:cs typeface="Consolas"/>
                <a:sym typeface="Consolas"/>
              </a:rPr>
              <a:t>calc_total_price</a:t>
            </a:r>
            <a:r>
              <a:rPr lang="en" sz="1600">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calc_total_price(usages)</a:t>
            </a:r>
            <a:endParaRPr sz="1600">
              <a:solidFill>
                <a:schemeClr val="dk1"/>
              </a:solidFill>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cxnSp>
        <p:nvCxnSpPr>
          <p:cNvPr id="546" name="Google Shape;546;p7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47" name="Google Shape;547;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48" name="Google Shape;548;p7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49" name="Google Shape;549;p71"/>
          <p:cNvSpPr txBox="1"/>
          <p:nvPr/>
        </p:nvSpPr>
        <p:spPr>
          <a:xfrm>
            <a:off x="304800" y="609600"/>
            <a:ext cx="8800200" cy="86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Create a dataframe so we can look at the records as a table and save them as a CSV file. </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Create the dataframe:</a:t>
            </a:r>
            <a:endParaRPr sz="1600">
              <a:solidFill>
                <a:schemeClr val="dk1"/>
              </a:solidFill>
              <a:latin typeface="Roboto"/>
              <a:ea typeface="Roboto"/>
              <a:cs typeface="Roboto"/>
              <a:sym typeface="Roboto"/>
            </a:endParaRPr>
          </a:p>
        </p:txBody>
      </p:sp>
      <p:sp>
        <p:nvSpPr>
          <p:cNvPr id="550" name="Google Shape;550;p71"/>
          <p:cNvSpPr txBox="1"/>
          <p:nvPr/>
        </p:nvSpPr>
        <p:spPr>
          <a:xfrm>
            <a:off x="443975" y="1560100"/>
            <a:ext cx="8229000" cy="98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accent2"/>
                </a:solidFill>
                <a:latin typeface="Consolas"/>
                <a:ea typeface="Consolas"/>
                <a:cs typeface="Consolas"/>
                <a:sym typeface="Consolas"/>
              </a:rPr>
              <a:t>import</a:t>
            </a:r>
            <a:r>
              <a:rPr lang="en" sz="1600">
                <a:solidFill>
                  <a:schemeClr val="dk1"/>
                </a:solidFill>
                <a:latin typeface="Consolas"/>
                <a:ea typeface="Consolas"/>
                <a:cs typeface="Consolas"/>
                <a:sym typeface="Consolas"/>
              </a:rPr>
              <a:t> pandas </a:t>
            </a:r>
            <a:r>
              <a:rPr lang="en" sz="1600">
                <a:solidFill>
                  <a:schemeClr val="accent2"/>
                </a:solidFill>
                <a:latin typeface="Consolas"/>
                <a:ea typeface="Consolas"/>
                <a:cs typeface="Consolas"/>
                <a:sym typeface="Consolas"/>
              </a:rPr>
              <a:t>as</a:t>
            </a:r>
            <a:r>
              <a:rPr lang="en" sz="1600">
                <a:solidFill>
                  <a:schemeClr val="dk1"/>
                </a:solidFill>
                <a:latin typeface="Consolas"/>
                <a:ea typeface="Consolas"/>
                <a:cs typeface="Consolas"/>
                <a:sym typeface="Consolas"/>
              </a:rPr>
              <a:t> pd </a:t>
            </a:r>
            <a:endParaRPr sz="1600">
              <a:solidFill>
                <a:schemeClr val="dk1"/>
              </a:solidFill>
              <a:latin typeface="Consolas"/>
              <a:ea typeface="Consolas"/>
              <a:cs typeface="Consolas"/>
              <a:sym typeface="Consolas"/>
            </a:endParaRPr>
          </a:p>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df_ground_truth = pd.</a:t>
            </a:r>
            <a:r>
              <a:rPr lang="en" sz="1600">
                <a:solidFill>
                  <a:schemeClr val="accent3"/>
                </a:solidFill>
                <a:latin typeface="Consolas"/>
                <a:ea typeface="Consolas"/>
                <a:cs typeface="Consolas"/>
                <a:sym typeface="Consolas"/>
              </a:rPr>
              <a:t>DataFrame</a:t>
            </a:r>
            <a:r>
              <a:rPr lang="en" sz="1600">
                <a:solidFill>
                  <a:schemeClr val="dk1"/>
                </a:solidFill>
                <a:latin typeface="Consolas"/>
                <a:ea typeface="Consolas"/>
                <a:cs typeface="Consolas"/>
                <a:sym typeface="Consolas"/>
              </a:rPr>
              <a:t>(ground_truth)</a:t>
            </a:r>
            <a:endParaRPr sz="1600">
              <a:solidFill>
                <a:schemeClr val="dk1"/>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cxnSp>
        <p:nvCxnSpPr>
          <p:cNvPr id="555" name="Google Shape;555;p7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56" name="Google Shape;556;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57" name="Google Shape;557;p7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58" name="Google Shape;558;p72"/>
          <p:cNvSpPr txBox="1"/>
          <p:nvPr/>
        </p:nvSpPr>
        <p:spPr>
          <a:xfrm>
            <a:off x="304800" y="609600"/>
            <a:ext cx="8800200" cy="11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Because we generated the questions from specific documents, we know which document is correct for each question. We now have the ground truth we need for evaluation. </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600">
                <a:solidFill>
                  <a:schemeClr val="dk1"/>
                </a:solidFill>
                <a:latin typeface="Roboto"/>
                <a:ea typeface="Roboto"/>
                <a:cs typeface="Roboto"/>
                <a:sym typeface="Roboto"/>
              </a:rPr>
              <a:t>Save it for later use:</a:t>
            </a:r>
            <a:endParaRPr sz="1600">
              <a:solidFill>
                <a:schemeClr val="dk1"/>
              </a:solidFill>
              <a:latin typeface="Roboto"/>
              <a:ea typeface="Roboto"/>
              <a:cs typeface="Roboto"/>
              <a:sym typeface="Roboto"/>
            </a:endParaRPr>
          </a:p>
        </p:txBody>
      </p:sp>
      <p:sp>
        <p:nvSpPr>
          <p:cNvPr id="559" name="Google Shape;559;p72"/>
          <p:cNvSpPr txBox="1"/>
          <p:nvPr/>
        </p:nvSpPr>
        <p:spPr>
          <a:xfrm>
            <a:off x="443975" y="1788700"/>
            <a:ext cx="8229000" cy="5907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52400" rtl="0" algn="l">
              <a:lnSpc>
                <a:spcPct val="115000"/>
              </a:lnSpc>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df_ground_truth.</a:t>
            </a:r>
            <a:r>
              <a:rPr lang="en" sz="1600">
                <a:solidFill>
                  <a:schemeClr val="accent3"/>
                </a:solidFill>
                <a:latin typeface="Consolas"/>
                <a:ea typeface="Consolas"/>
                <a:cs typeface="Consolas"/>
                <a:sym typeface="Consolas"/>
              </a:rPr>
              <a:t>to_csv</a:t>
            </a:r>
            <a:r>
              <a:rPr lang="en" sz="1600">
                <a:solidFill>
                  <a:schemeClr val="dk1"/>
                </a:solidFill>
                <a:latin typeface="Consolas"/>
                <a:ea typeface="Consolas"/>
                <a:cs typeface="Consolas"/>
                <a:sym typeface="Consolas"/>
              </a:rPr>
              <a:t>(</a:t>
            </a:r>
            <a:r>
              <a:rPr lang="en" sz="1600">
                <a:solidFill>
                  <a:schemeClr val="accent3"/>
                </a:solidFill>
                <a:latin typeface="Consolas"/>
                <a:ea typeface="Consolas"/>
                <a:cs typeface="Consolas"/>
                <a:sym typeface="Consolas"/>
              </a:rPr>
              <a:t>"data/ground_truth-new.csv",</a:t>
            </a:r>
            <a:r>
              <a:rPr lang="en" sz="1600">
                <a:solidFill>
                  <a:schemeClr val="dk1"/>
                </a:solidFill>
                <a:latin typeface="Consolas"/>
                <a:ea typeface="Consolas"/>
                <a:cs typeface="Consolas"/>
                <a:sym typeface="Consolas"/>
              </a:rPr>
              <a:t> index=</a:t>
            </a:r>
            <a:r>
              <a:rPr lang="en" sz="1600">
                <a:solidFill>
                  <a:schemeClr val="accent3"/>
                </a:solidFill>
                <a:latin typeface="Consolas"/>
                <a:ea typeface="Consolas"/>
                <a:cs typeface="Consolas"/>
                <a:sym typeface="Consolas"/>
              </a:rPr>
              <a:t>False</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cxnSp>
        <p:nvCxnSpPr>
          <p:cNvPr id="564" name="Google Shape;564;p73"/>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565" name="Google Shape;565;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Parallel processing</a:t>
            </a:r>
            <a:endParaRPr/>
          </a:p>
        </p:txBody>
      </p:sp>
      <p:sp>
        <p:nvSpPr>
          <p:cNvPr id="566" name="Google Shape;566;p7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567" name="Google Shape;567;p73"/>
          <p:cNvSpPr txBox="1"/>
          <p:nvPr/>
        </p:nvSpPr>
        <p:spPr>
          <a:xfrm>
            <a:off x="304800" y="609600"/>
            <a:ext cx="88002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Now we have questions with known correct documents. In the next lesson, we'll run search for these questions and check whether the correct documents appear in the results.</a:t>
            </a:r>
            <a:endParaRPr sz="16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